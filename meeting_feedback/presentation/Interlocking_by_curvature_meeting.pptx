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5" autoAdjust="0"/>
    <p:restoredTop sz="94660"/>
  </p:normalViewPr>
  <p:slideViewPr>
    <p:cSldViewPr snapToGrid="0">
      <p:cViewPr>
        <p:scale>
          <a:sx n="125" d="100"/>
          <a:sy n="125" d="100"/>
        </p:scale>
        <p:origin x="104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280" y="6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29F-E4EB-4494-8CCE-10A33A9678A7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B4E5B-8635-466F-9F6C-9A4ECC059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6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for the first round: genus 0, no limbs, translation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these two models are used. Elber's grids are N×M×1; the professor asked for 2×2×2, which adds the radial cut w through the thickness.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Re-seeding makes the sweep one shape at several strengths. Folded cases are kept to show what folding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Blocked or free is decided exactly by the clearance (distance from the origin to the convex hull of the face normals), not by sampling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piece touches three others. On the duck the radial neighbour always blocks, so every piece is immobilized, yet the pair moves out together through the flat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3% thickness limit is a default, not a printing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Item 2 is the paper's own open problem - Elber ensures disassemblability manually - and it is exactly what this experiment automates.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57B6B-6F86-434F-862D-118E466F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B52A3C-AFA2-4847-B237-7E272B55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C89DB-BF7E-4639-986D-A66C1719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B1F1F-993F-416E-AF6C-B7F6F3E5FC7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40831-794D-4D7E-B24F-252161A0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45927C-C5AF-426C-95EF-D866FE435EF3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1626A6D4-7C5D-49F2-BBB1-6DFD630F2514}"/>
              </a:ext>
            </a:extLst>
          </p:cNvPr>
          <p:cNvSpPr/>
          <p:nvPr userDrawn="1"/>
        </p:nvSpPr>
        <p:spPr>
          <a:xfrm rot="16200000">
            <a:off x="10597514" y="5257800"/>
            <a:ext cx="1594486" cy="1594486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11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8CC59-22BE-419F-9D57-F1A713F7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583164"/>
            <a:ext cx="11543071" cy="51127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E95BD-5ECB-4CD9-A678-EE58EFB7F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135951"/>
            <a:ext cx="11543071" cy="5168171"/>
          </a:xfrm>
        </p:spPr>
        <p:txBody>
          <a:bodyPr>
            <a:normAutofit/>
          </a:bodyPr>
          <a:lstStyle>
            <a:lvl1pPr latinLnBrk="0">
              <a:defRPr sz="2000"/>
            </a:lvl1pPr>
            <a:lvl2pPr marL="360000" indent="-180000" latinLnBrk="0">
              <a:defRPr sz="1800"/>
            </a:lvl2pPr>
            <a:lvl3pPr marL="540000" indent="-180000" latinLnBrk="0">
              <a:defRPr sz="1600"/>
            </a:lvl3pPr>
            <a:lvl4pPr marL="720000" indent="-180000" latinLnBrk="0">
              <a:defRPr sz="1600"/>
            </a:lvl4pPr>
            <a:lvl5pPr marL="900000" indent="-180000" latinLnBrk="0"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EC67CD-0B3F-4863-8CF7-DBE80A9D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FAB9-1AEF-4604-9D43-C26BA5CC397F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B17FA-D451-453A-9BA6-0F9BBAC4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78C366-A462-48EE-8580-04499B3AE1FD}"/>
              </a:ext>
            </a:extLst>
          </p:cNvPr>
          <p:cNvSpPr/>
          <p:nvPr userDrawn="1"/>
        </p:nvSpPr>
        <p:spPr>
          <a:xfrm>
            <a:off x="0" y="1"/>
            <a:ext cx="12192000" cy="530936"/>
          </a:xfrm>
          <a:prstGeom prst="rect">
            <a:avLst/>
          </a:prstGeom>
          <a:gradFill flip="none" rotWithShape="1">
            <a:gsLst>
              <a:gs pos="50000">
                <a:srgbClr val="0C7CAE"/>
              </a:gs>
              <a:gs pos="0">
                <a:schemeClr val="accent1"/>
              </a:gs>
              <a:gs pos="100000">
                <a:srgbClr val="00B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361DF54-A884-45FA-B571-9D4FB8F984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9660"/>
            <a:ext cx="5672137" cy="51127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strike="noStrike">
                <a:solidFill>
                  <a:schemeClr val="bg1"/>
                </a:solidFill>
                <a:effectLst>
                  <a:outerShdw blurRad="50800" dist="63500" dir="36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&lt;</a:t>
            </a:r>
            <a:r>
              <a:rPr lang="ko-KR" altLang="en-US" dirty="0"/>
              <a:t>주제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583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27BE-3222-4CFF-AD99-8310BBA1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DE07C0-355E-40FE-AF44-715BF459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5DDE7-D2B5-471A-970C-7B90F98E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96B8-70E0-4467-AFF1-7048170CA87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22E636-39C7-461B-8A2E-779C5B83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2D324-1A28-4223-AEBE-366616FD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18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C3F9-C188-4636-A0DE-A0E7FB15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4A204-1FEA-4C72-99BB-140FDDE09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A2AB17-B826-42F6-ACBC-16E269778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338763-3E2C-4076-98E9-0AFD643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0FA9-2D34-4010-A15F-E4B337B1011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B2077D-F1B3-4837-B147-59894CCD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D47E0-854D-433A-9992-D56D34F48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0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23D3B-B13E-462E-A89A-29628509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3E4E0-463F-4346-9FDF-672E3BBB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85CFD6-D7B8-4303-819C-9B745AD93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913713-737C-4038-B131-A7F92B24E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AC3B8F-595E-4420-A2A4-7B5F4BDB0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974DC3D-A873-4560-8081-DCFC58A3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C477-C2F5-4D99-A63B-A201A49B7EC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A85DC4-0100-40EB-A418-1C81C33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552DAD-499E-4D5A-A1B2-6469CDE0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77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AEBAD-4D83-4F9B-AE11-EC8F8F82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9D4600-8179-43BB-9B34-CD86EBEC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B71-3F1E-407C-A5B2-FA165FD1F84B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8BDF06-B3D8-4891-A689-927CE7C5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F7F4AB-63B6-4FAE-8228-251F3FA0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8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2A56CD-967F-45B9-A86B-1B777436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D1E7D-64C0-4102-B8CE-EC7E7C6DCDBE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7836AD-6C99-4837-889D-897AAA528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86EAC-A35A-4505-898B-D1B57FE6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93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ADA27-19A1-4DA8-BBBE-3F3DC42F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19DD9-3A9E-4D4A-A541-2E02874D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3D4A59-00CF-4530-8089-FFA079F2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3E5B68-0EA4-4785-A718-B39A8049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7449-C556-4FA1-861E-F85AB157E0C2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9694B5-8360-4F99-9646-D2173226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BA12F-BDAF-4D36-9A32-2EAFD77D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24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54DCA-388A-4110-8BA6-895FC613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82BE0D-2291-4245-85C5-7E8BC073B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612F8-25A0-449E-8405-165B61E0F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A59B52-01C9-46F8-9114-D4CFB05A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3A3B8-F188-4E8C-A5F6-C874746D2C83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4963E5-6C22-40BE-A1F5-E540A0EC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1E29E-BFBA-4850-9C6D-E95731AB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F7A66-4145-4C10-A813-494532B3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CB460A-DF11-445F-8CAA-8324734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32694-3C55-42FB-BA50-D80407FF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9F45-7E03-4C3B-B651-B46837CADF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F250B-F112-4398-A585-EE1BB986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F8E996-A1CD-484F-8E84-78FB9484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2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A2B927-40D5-4C2B-984E-01031AC33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D07976-D1BA-41CD-9E5F-1BB148A1A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8DBB88-EE0C-45F0-98BC-2D315C8D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DB628-3056-4B4F-B244-C966161F632D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8F206-C450-4116-B2A0-CC3A6DFD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50654-44DE-4672-AC56-5AAF1378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6042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B1EA5D-6F33-4E99-B9B5-BD135DE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EB9887-A8B2-4C26-8BEC-18BD3D57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CF7AC-C8A0-4565-99F3-3B809ADB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BEF52-E9F8-4ABE-95BA-D728F4C95789}" type="datetime1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8E233-5DF5-42E4-8176-5B90CC42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0C084-82A5-48F5-851B-F1ADF91B8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5D68-D066-4549-B6E4-FC48FE9FE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0" eaLnBrk="1"/>
            <a:r>
              <a:t>Interlocking by curvature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 eaLnBrk="1"/>
            <a:r>
              <a:t>그래픽스 및 기하처리 연구실</a:t>
            </a:r>
          </a:p>
          <a:p>
            <a:pPr latinLnBrk="0" eaLnBrk="1"/>
            <a:r>
              <a:t>정보컴퓨터공학부 예기즈바에브 졸란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Problem statement (139 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eaLnBrk="1">
              <a:spcAft>
                <a:spcPts val="600"/>
              </a:spcAft>
            </a:pPr>
            <a:r>
              <a:rPr sz="1800" b="0"/>
              <a:t>Given a closed genus-0 solid, partition it into k pieces that interlock in R³: no proper subassembly separates by translation except one designated key.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Elber's construction divides the parameter domain D of a trivariate M and maps each cell through M. If M is affine the cuts stay planar, and a planar partition always comes apart, so joints are the only resistance. We cut in D and let M curve the cuts. Two pieces sharing an interface S separate along d only if d·n ≥ 0 at every point of S; when the normals spread far enough, no such d exists and the pair is locked.</a:t>
            </a:r>
          </a:p>
          <a:p>
            <a:pPr latinLnBrk="0" eaLnBrk="1">
              <a:spcAft>
                <a:spcPts val="600"/>
              </a:spcAft>
            </a:pPr>
            <a:r>
              <a:rPr sz="1800" b="1"/>
              <a:t>Criteria:</a:t>
            </a:r>
            <a:r>
              <a:rPr sz="1800" b="0"/>
              <a:t> interlocking verified in R³ (single key, then level k); Jacobian of M∘R positive everywhere; every piece one connected component above a minimum thickness; roughly uniform piece sizes; no joints exposed in cavities.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Problem statement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Two models from Elber's own script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1 · Reproduce Elber, pins removed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6692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>
              <a:spcAft>
                <a:spcPts val="600"/>
              </a:spcAft>
            </a:pPr>
            <a:r>
              <a:rPr sz="1800" b="0"/>
              <a:t>Elber's </a:t>
            </a:r>
            <a:r>
              <a:rPr sz="1800" b="1"/>
              <a:t>puz_vol.irt</a:t>
            </a:r>
            <a:r>
              <a:rPr sz="1800" b="0"/>
              <a:t> (IRIT), copied as puz_vol - Copy.irt with every pin and hole deleted</a:t>
            </a:r>
          </a:p>
          <a:p>
            <a:pPr latinLnBrk="0" eaLnBrk="1">
              <a:spcAft>
                <a:spcPts val="600"/>
              </a:spcAft>
            </a:pPr>
            <a:r>
              <a:rPr sz="1800" b="1"/>
              <a:t>PuzzleVolEarth</a:t>
            </a:r>
            <a:r>
              <a:rPr sz="1800" b="0"/>
              <a:t>: a sphere shell.  </a:t>
            </a:r>
            <a:r>
              <a:rPr sz="1800" b="1"/>
              <a:t>PuzzleVolDuck</a:t>
            </a:r>
            <a:r>
              <a:rPr sz="1800" b="0"/>
              <a:t>: ruled between the duck surface and an inner core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Divided </a:t>
            </a:r>
            <a:r>
              <a:rPr sz="1800" b="1"/>
              <a:t>2×2×2</a:t>
            </a:r>
            <a:r>
              <a:rPr sz="1800" b="0"/>
              <a:t> in D: u around the axis, v along the profile, w through the thickness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Tiles at size 1.0 (Elber's 0.99 left room for pins); the trivariate M is saved next to the pieces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25296"/>
            <a:ext cx="5577840" cy="4846320"/>
          </a:xfrm>
          <a:prstGeom prst="rect">
            <a:avLst/>
          </a:prstGeom>
          <a:noFill/>
          <a:ln>
            <a:solidFill>
              <a:srgbClr val="9AA6B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 eaLnBrk="1"/>
            <a:r>
              <a:rPr sz="1400">
                <a:solidFill>
                  <a:srgbClr val="5B636B"/>
                </a:solidFill>
              </a:rPr>
              <a:t>[Screenshot: GuIrit, PuzzleVolEarth and PuzzleVolDuck, pins removed]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R is a randomization amount, not a radius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3 · The R sweep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6400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>
              <a:spcAft>
                <a:spcPts val="600"/>
              </a:spcAft>
            </a:pPr>
            <a:r>
              <a:rPr sz="1800" b="0"/>
              <a:t>RandomizeInterior(TV, R): every </a:t>
            </a:r>
            <a:r>
              <a:rPr sz="1800" b="1"/>
              <a:t>interior</a:t>
            </a:r>
            <a:r>
              <a:rPr sz="1800" b="0"/>
              <a:t> control point += random(−R, R); the outer shape is unchanged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Random generator re-seeded before every R: each R scales </a:t>
            </a:r>
            <a:r>
              <a:rPr sz="1800" b="1"/>
              <a:t>one fixed</a:t>
            </a:r>
            <a:r>
              <a:rPr sz="1800" b="0"/>
              <a:t> field of offsets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Duck refined in depth first (it had only 2 control points across its thickness)</a:t>
            </a:r>
          </a:p>
          <a:p>
            <a:pPr latinLnBrk="0" eaLnBrk="1">
              <a:spcAft>
                <a:spcPts val="600"/>
              </a:spcAft>
            </a:pPr>
            <a:r>
              <a:rPr sz="1800" b="0"/>
              <a:t>Rule: interior </a:t>
            </a:r>
            <a:r>
              <a:rPr sz="1800" b="1"/>
              <a:t>det J ≤ 0</a:t>
            </a:r>
            <a:r>
              <a:rPr sz="1800" b="0"/>
              <a:t> → the map folds → the case is invalid and not ranked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316736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1307592"/>
                <a:gridCol w="1307592"/>
              </a:tblGrid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valid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folds from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 – 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0.15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duck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 – 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0.02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Elber's Earth, R =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folds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Blocking pairs, immobilized pieces, single key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4 · The table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 (PuzzleVolEarth)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8328" y="1517904"/>
          <a:ext cx="557783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115568"/>
                <a:gridCol w="1784908"/>
                <a:gridCol w="1115568"/>
                <a:gridCol w="892454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blocking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immobilized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single key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5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-0.092 folds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invalid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 (PuzzleVolDuck)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17904"/>
          <a:ext cx="557783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340"/>
                <a:gridCol w="1115568"/>
                <a:gridCol w="1784908"/>
                <a:gridCol w="1115568"/>
                <a:gridCol w="892454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blocking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immobilized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single key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0–1, 2–3, 4–5, 6–7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 of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-0.031 folds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invalid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8328" y="49834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1"/>
              <a:t>No valid case has a single key.</a:t>
            </a:r>
            <a:r>
              <a:rPr sz="1300" b="0"/>
              <a:t>  Duck: every piece is immobilized, but each piece and its radial partner slide out together.  Sphere: R = 0 blocks only on a knife edge; at R = 0.025–0.05 all four outer shells come out alone (under 2° of clearance); from R = 0.075 pair 6–7 closes.
Pairs 0–1, 2–3, 4–5, 6–7 = the two layers of one quarter (the radial cut).  Controls: flat box 0 of 12 blocked; duck 2×2×1 (Elber's topology) 0 of 4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Who blocks whom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Step 4 · The blocking graph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1338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Sphere, R = 0.1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545336"/>
          <a:ext cx="378561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</a:tblGrid>
              <a:tr h="420624"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422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0"/>
              <a:t>Immobilized: 0, 2, 4, 6, 7.  Free alone: 1, 3,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338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Duck, R = 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545336"/>
          <a:ext cx="3785616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  <a:gridCol w="420624"/>
              </a:tblGrid>
              <a:tr h="420624"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1D1D1F"/>
                          </a:solidFill>
                        </a:rPr>
                        <a:t>·</a:t>
                      </a:r>
                    </a:p>
                  </a:txBody>
                  <a:tcPr anchor="ctr"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  <a:r>
                        <a:rPr sz="13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0C7C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5422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0"/>
              <a:t>Immobilized: 0, 1, 2, 3, 4, 5, 6, 7.  Free alone: none.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200" b="0">
                <a:solidFill>
                  <a:srgbClr val="5B636B"/>
                </a:solidFill>
              </a:rPr>
              <a:t>B = blocked (no direction separates them)   · = touching, can separate   empty = not touching.   Piece = 4·(u half) + 2·(v half) + (w layer)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The criteria, per 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Criteria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8328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Sphere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8328" y="1517904"/>
          <a:ext cx="55778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119"/>
                <a:gridCol w="1004011"/>
                <a:gridCol w="1394460"/>
                <a:gridCol w="1338681"/>
                <a:gridCol w="1115568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thinnest (3%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largest / smallest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key / level 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8.1%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2.7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6.0%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2.8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4.2% 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2.9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2.7%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3.0 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1.9%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3.1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0.5%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3.2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(folds)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3385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600" b="1"/>
              <a:t>Duck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17904"/>
          <a:ext cx="557783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119"/>
                <a:gridCol w="1004011"/>
                <a:gridCol w="1394460"/>
                <a:gridCol w="1338681"/>
                <a:gridCol w="1115568"/>
              </a:tblGrid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det J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thinnest (3%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largest / smallest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 b="1"/>
                        <a:t>key / level k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11.4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11.4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11.5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0.2%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11.7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/ 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no (folds)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200"/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8328" y="4983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 eaLnBrk="1"/>
            <a:r>
              <a:rPr sz="1300" b="1"/>
              <a:t>One connected component:</a:t>
            </a:r>
            <a:r>
              <a:rPr sz="1300" b="0"/>
              <a:t> yes in every valid row (a piece is one box through a continuous map; only a fold could break it).   </a:t>
            </a:r>
            <a:r>
              <a:rPr sz="1300" b="1"/>
              <a:t>Joints in cavities:</a:t>
            </a:r>
            <a:r>
              <a:rPr sz="1300" b="0"/>
              <a:t> not applicable, no joints in this experiment.   Sizes: pass ≤ 2, warn ≤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Each §6 item, matched to our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Elber 2025, §6 Future Work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133856"/>
          <a:ext cx="11430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3657600"/>
                <a:gridCol w="3429000"/>
              </a:tblGrid>
              <a:tr h="411480"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§6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our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 b="1"/>
                        <a:t>evidence it is addressed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1 · Richer domain topologies (hexagonal prisms, general space-filling cells)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Later rounds: the analyser must not assume cuboid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The same table from a non-cuboid division of D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2 · Non-regular division + automatic (dis)assemblability ("herein we manually ensure that")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The core: translational DBG over freeform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The blocking table, computed not asserted (done)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3 · Better joints; joints exposed by deep cavities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Joints only where the DBG says faces are loose; cavities as a 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A joint moved off a cavity-reachable face, before / after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4 · Pin / hole sizes distorted by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J is already computed: scale features by the local stretch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0" eaLnBrk="1"/>
                      <a:r>
                        <a:rPr sz="1400"/>
                        <a:t>Joint sizes in R³ with and without compensation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 eaLnBrk="1"/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 eaLnBrk="1">
              <a:spcAft>
                <a:spcPts val="600"/>
              </a:spcAft>
            </a:pPr>
            <a:r>
              <a:rPr sz="1600" b="1"/>
              <a:t>Rotations?</a:t>
            </a:r>
            <a:r>
              <a:rPr sz="1600" b="0"/>
              <a:t> The d·n test covers straight pulls only. Proposal: translation only for the first paper, stated as a limitation, plus a swept-volume check on the final design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Which shapes?</a:t>
            </a:r>
            <a:r>
              <a:rPr sz="1600" b="0"/>
              <a:t> Proposal: genus 0, no limbs (deformed sphere, simple busts; not the torus or armadillo). Is "no limbs" about genus, the medial axis, or convex cross-sections? It needs an operational test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Is random R the right instrument?</a:t>
            </a:r>
            <a:r>
              <a:rPr sz="1600" b="0"/>
              <a:t> It folds the duck at 0.02 and never makes the u / v cuts block. Design the curvature instead (wavy cuts in D, harmonic trivariate)?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Which level k?</a:t>
            </a:r>
            <a:r>
              <a:rPr sz="1600" b="0"/>
              <a:t> Song 2012 (unique key at each step) is computed; Chen 2022 (moves before the first piece comes free) needs motion search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What do joints become?</a:t>
            </a:r>
            <a:r>
              <a:rPr sz="1600" b="0"/>
              <a:t> If curvature does not lock, the DBG says which faces are loose: fewest joints, or least visible?</a:t>
            </a:r>
          </a:p>
          <a:p>
            <a:pPr latinLnBrk="0" eaLnBrk="1">
              <a:spcAft>
                <a:spcPts val="600"/>
              </a:spcAft>
            </a:pPr>
            <a:r>
              <a:rPr sz="1600" b="1"/>
              <a:t>Fitted or constructed trivariates, and a thickness limit in mm?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latinLnBrk="0" eaLnBrk="1"/>
            <a:r>
              <a:t>Open questions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F06C2-3CFB-49D1-8B88-A028E634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9273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atinLnBrk="0" eaLnBrk="1"/>
            <a:fld id="{E14E5D68-D066-4549-B6E4-FC48FE9FEC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KoPubWorld돋움체">
      <a:majorFont>
        <a:latin typeface="KoPubWorld돋움체 Bold"/>
        <a:ea typeface="KoPubWorld돋움체 Bold"/>
        <a:cs typeface=""/>
      </a:majorFont>
      <a:minorFont>
        <a:latin typeface="KoPubWorld돋움체 Medium"/>
        <a:ea typeface="KoPubWorld돋움체 Medium"/>
        <a:cs typeface=""/>
      </a:minorFont>
    </a:fontScheme>
    <a:fmtScheme name="절묘한 입체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8359</TotalTime>
  <Words>212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KoPubWorld돋움체 Bold</vt:lpstr>
      <vt:lpstr>KoPubWorld돋움체 Medium</vt:lpstr>
      <vt:lpstr>맑은 고딕</vt:lpstr>
      <vt:lpstr>noto</vt:lpstr>
      <vt:lpstr>Arial</vt:lpstr>
      <vt:lpstr>Office 테마</vt:lpstr>
      <vt:lpstr>3D puzzles using V-reps</vt:lpstr>
      <vt:lpstr>Contents</vt:lpstr>
      <vt:lpstr>Dovetail Joints</vt:lpstr>
      <vt:lpstr>Joint Placement</vt:lpstr>
      <vt:lpstr>Failsafes &amp; Current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남정보컴퓨터공학부</cp:lastModifiedBy>
  <cp:revision>22</cp:revision>
  <dcterms:created xsi:type="dcterms:W3CDTF">2025-06-16T00:16:57Z</dcterms:created>
  <dcterms:modified xsi:type="dcterms:W3CDTF">2026-09-22T04:48:57Z</dcterms:modified>
</cp:coreProperties>
</file>