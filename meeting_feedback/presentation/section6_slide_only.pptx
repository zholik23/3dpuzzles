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6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5" autoAdjust="0"/>
    <p:restoredTop sz="94660"/>
  </p:normalViewPr>
  <p:slideViewPr>
    <p:cSldViewPr snapToGrid="0">
      <p:cViewPr>
        <p:scale>
          <a:sx n="125" d="100"/>
          <a:sy n="125" d="100"/>
        </p:scale>
        <p:origin x="104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280" y="6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629F-E4EB-4494-8CCE-10A33A9678A7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B4E5B-8635-466F-9F6C-9A4ECC0596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96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2 is where this work sits: Elber ensures (dis)assemblability manually; the DBG automates the check, so far for uniform grids and translations. The duck's radial pairs are the case he warns about: a puzzle that cannot be (dis)assembled. Items 3 and 4 need joints, which this experiment deliberately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57B6B-6F86-434F-862D-118E466F1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B52A3C-AFA2-4847-B237-7E272B557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C89DB-BF7E-4639-986D-A66C1719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F1F-993F-416E-AF6C-B7F6F3E5FC7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40831-794D-4D7E-B24F-252161A0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45927C-C5AF-426C-95EF-D866FE435EF3}"/>
              </a:ext>
            </a:extLst>
          </p:cNvPr>
          <p:cNvSpPr/>
          <p:nvPr userDrawn="1"/>
        </p:nvSpPr>
        <p:spPr>
          <a:xfrm>
            <a:off x="0" y="1"/>
            <a:ext cx="12192000" cy="530936"/>
          </a:xfrm>
          <a:prstGeom prst="rect">
            <a:avLst/>
          </a:prstGeom>
          <a:gradFill flip="none" rotWithShape="1">
            <a:gsLst>
              <a:gs pos="50000">
                <a:srgbClr val="0C7CAE"/>
              </a:gs>
              <a:gs pos="0">
                <a:schemeClr val="accent1"/>
              </a:gs>
              <a:gs pos="100000">
                <a:srgbClr val="00B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1626A6D4-7C5D-49F2-BBB1-6DFD630F2514}"/>
              </a:ext>
            </a:extLst>
          </p:cNvPr>
          <p:cNvSpPr/>
          <p:nvPr userDrawn="1"/>
        </p:nvSpPr>
        <p:spPr>
          <a:xfrm rot="16200000">
            <a:off x="10597514" y="5257800"/>
            <a:ext cx="1594486" cy="1594486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11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8CC59-22BE-419F-9D57-F1A713F7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" y="583164"/>
            <a:ext cx="11543071" cy="51127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E95BD-5ECB-4CD9-A678-EE58EFB7F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135951"/>
            <a:ext cx="11543071" cy="5168171"/>
          </a:xfrm>
        </p:spPr>
        <p:txBody>
          <a:bodyPr>
            <a:normAutofit/>
          </a:bodyPr>
          <a:lstStyle>
            <a:lvl1pPr latinLnBrk="0">
              <a:defRPr sz="2000"/>
            </a:lvl1pPr>
            <a:lvl2pPr marL="360000" indent="-180000" latinLnBrk="0">
              <a:defRPr sz="1800"/>
            </a:lvl2pPr>
            <a:lvl3pPr marL="540000" indent="-180000" latinLnBrk="0">
              <a:defRPr sz="1600"/>
            </a:lvl3pPr>
            <a:lvl4pPr marL="720000" indent="-180000" latinLnBrk="0">
              <a:defRPr sz="1600"/>
            </a:lvl4pPr>
            <a:lvl5pPr marL="900000" indent="-180000" latinLnBrk="0"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EC67CD-0B3F-4863-8CF7-DBE80A9D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FAB9-1AEF-4604-9D43-C26BA5CC397F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7B17FA-D451-453A-9BA6-0F9BBAC4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78C366-A462-48EE-8580-04499B3AE1FD}"/>
              </a:ext>
            </a:extLst>
          </p:cNvPr>
          <p:cNvSpPr/>
          <p:nvPr userDrawn="1"/>
        </p:nvSpPr>
        <p:spPr>
          <a:xfrm>
            <a:off x="0" y="1"/>
            <a:ext cx="12192000" cy="530936"/>
          </a:xfrm>
          <a:prstGeom prst="rect">
            <a:avLst/>
          </a:prstGeom>
          <a:gradFill flip="none" rotWithShape="1">
            <a:gsLst>
              <a:gs pos="50000">
                <a:srgbClr val="0C7CAE"/>
              </a:gs>
              <a:gs pos="0">
                <a:schemeClr val="accent1"/>
              </a:gs>
              <a:gs pos="100000">
                <a:srgbClr val="00B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361DF54-A884-45FA-B571-9D4FB8F984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9660"/>
            <a:ext cx="5672137" cy="511277"/>
          </a:xfrm>
        </p:spPr>
        <p:txBody>
          <a:bodyPr anchor="ctr">
            <a:normAutofit/>
          </a:bodyPr>
          <a:lstStyle>
            <a:lvl1pPr marL="0" indent="0">
              <a:buNone/>
              <a:defRPr sz="2000" b="0" strike="noStrike">
                <a:solidFill>
                  <a:schemeClr val="bg1"/>
                </a:solidFill>
                <a:effectLst>
                  <a:outerShdw blurRad="50800" dist="63500" dir="36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&lt;</a:t>
            </a:r>
            <a:r>
              <a:rPr lang="ko-KR" altLang="en-US" dirty="0"/>
              <a:t>주제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583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27BE-3222-4CFF-AD99-8310BBA1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DE07C0-355E-40FE-AF44-715BF459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D5DDE7-D2B5-471A-970C-7B90F98E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96B8-70E0-4467-AFF1-7048170CA87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22E636-39C7-461B-8A2E-779C5B83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62D324-1A28-4223-AEBE-366616FD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18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C3F9-C188-4636-A0DE-A0E7FB15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4A204-1FEA-4C72-99BB-140FDDE09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A2AB17-B826-42F6-ACBC-16E269778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338763-3E2C-4076-98E9-0AFD6430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0FA9-2D34-4010-A15F-E4B337B1011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B2077D-F1B3-4837-B147-59894CCD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AD47E0-854D-433A-9992-D56D34F4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20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23D3B-B13E-462E-A89A-29628509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33E4E0-463F-4346-9FDF-672E3BBB4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85CFD6-D7B8-4303-819C-9B745AD93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913713-737C-4038-B131-A7F92B24E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AC3B8F-595E-4420-A2A4-7B5F4BDB0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74DC3D-A873-4560-8081-DCFC58A3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C477-C2F5-4D99-A63B-A201A49B7EC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A85DC4-0100-40EB-A418-1C81C33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552DAD-499E-4D5A-A1B2-6469CDE0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77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AEBAD-4D83-4F9B-AE11-EC8F8F82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9D4600-8179-43BB-9B34-CD86EBEC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B71-3F1E-407C-A5B2-FA165FD1F84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8BDF06-B3D8-4891-A689-927CE7C5A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F7F4AB-63B6-4FAE-8228-251F3FA0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8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2A56CD-967F-45B9-A86B-1B777436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1E7D-64C0-4102-B8CE-EC7E7C6DCDBE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7836AD-6C99-4837-889D-897AAA528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86EAC-A35A-4505-898B-D1B57FE6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93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ADA27-19A1-4DA8-BBBE-3F3DC42F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19DD9-3A9E-4D4A-A541-2E02874D0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3D4A59-00CF-4530-8089-FFA079F23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3E5B68-0EA4-4785-A718-B39A8049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7449-C556-4FA1-861E-F85AB157E0C2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9694B5-8360-4F99-9646-D2173226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BBA12F-BDAF-4D36-9A32-2EAFD77D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24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54DCA-388A-4110-8BA6-895FC613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B82BE0D-2291-4245-85C5-7E8BC073B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5612F8-25A0-449E-8405-165B61E0F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A59B52-01C9-46F8-9114-D4CFB05A6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A3B8-F188-4E8C-A5F6-C874746D2C8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4963E5-6C22-40BE-A1F5-E540A0EC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41E29E-BFBA-4850-9C6D-E95731AB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24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F7A66-4145-4C10-A813-494532B3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CB460A-DF11-445F-8CAA-8324734A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32694-3C55-42FB-BA50-D80407FF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D9F45-7E03-4C3B-B651-B46837CADF8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F250B-F112-4398-A585-EE1BB9864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8E996-A1CD-484F-8E84-78FB9484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82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A2B927-40D5-4C2B-984E-01031AC33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D07976-D1BA-41CD-9E5F-1BB148A1A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8DBB88-EE0C-45F0-98BC-2D315C8D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DB628-3056-4B4F-B244-C966161F632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8F206-C450-4116-B2A0-CC3A6DFD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950654-44DE-4672-AC56-5AAF1378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6042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B1EA5D-6F33-4E99-B9B5-BD135DEC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EB9887-A8B2-4C26-8BEC-18BD3D574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CF7AC-C8A0-4565-99F3-3B809ADBD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BEF52-E9F8-4ABE-95BA-D728F4C9578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68E233-5DF5-42E4-8176-5B90CC422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0C084-82A5-48F5-851B-F1ADF91B8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5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Each §6 item, matched to our plan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Elber 2025, §6 Future Work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133856"/>
          <a:ext cx="114300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771900"/>
                <a:gridCol w="3543300"/>
              </a:tblGrid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Elber §6 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our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status now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1 · Other domain topologies: hexagonal prisms, semi-regular or general space-filling cells, with matching joints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Not in our plan. We keep Elber's cuboid grid; we change whether the cells interlock, not their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–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2 · Non-regular division, plus automatic verification of a collision-free (dis)assembly ("herein we manually ensure that")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Our core step: the DBG tests every group of pieces for a free translation and builds a take-apart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Done for uniform 2×2×2 (complete up to 18 pieces), translation only. Not yet: non-regular division, rotations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3 · Better joints than pins and holes; deep cavities can expose joints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Later, only if curvature alone does not lock: the DBG shows which faces are loose, only those get a 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Not started: no joints in this experiment; dovetails exist only in the older planar pipeline; no cavity check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4 · Pin and hole sizes distorted by M; compensate with M's derivatives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Later, together with joints: the analyser already evaluates M's derivatives (J) at any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Not started: no compensation implemented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KoPubWorld돋움체">
      <a:majorFont>
        <a:latin typeface="KoPubWorld돋움체 Bold"/>
        <a:ea typeface="KoPubWorld돋움체 Bold"/>
        <a:cs typeface=""/>
      </a:majorFont>
      <a:minorFont>
        <a:latin typeface="KoPubWorld돋움체 Medium"/>
        <a:ea typeface="KoPubWorld돋움체 Medium"/>
        <a:cs typeface=""/>
      </a:minorFont>
    </a:fontScheme>
    <a:fmtScheme name="절묘한 입체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8359</TotalTime>
  <Words>212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KoPubWorld돋움체 Bold</vt:lpstr>
      <vt:lpstr>KoPubWorld돋움체 Medium</vt:lpstr>
      <vt:lpstr>맑은 고딕</vt:lpstr>
      <vt:lpstr>noto</vt:lpstr>
      <vt:lpstr>Arial</vt:lpstr>
      <vt:lpstr>Office 테마</vt:lpstr>
      <vt:lpstr>3D puzzles using V-reps</vt:lpstr>
      <vt:lpstr>Contents</vt:lpstr>
      <vt:lpstr>Dovetail Joints</vt:lpstr>
      <vt:lpstr>Joint Placement</vt:lpstr>
      <vt:lpstr>Failsafes &amp; Current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남정보컴퓨터공학부</cp:lastModifiedBy>
  <cp:revision>22</cp:revision>
  <dcterms:created xsi:type="dcterms:W3CDTF">2025-06-16T00:16:57Z</dcterms:created>
  <dcterms:modified xsi:type="dcterms:W3CDTF">2026-09-22T04:48:57Z</dcterms:modified>
</cp:coreProperties>
</file>