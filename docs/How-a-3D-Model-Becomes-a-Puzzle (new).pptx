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011680"/>
            <a:ext cx="10515600" cy="914400"/>
          </a:xfrm>
          <a:prstGeom prst="rect">
            <a:avLst/>
          </a:prstGeom>
          <a:noFill/>
        </p:spPr>
        <p:txBody>
          <a:bodyPr wrap="square">
            <a:spAutoFit/>
          </a:bodyPr>
          <a:lstStyle/>
          <a:p>
            <a:pPr>
              <a:spcAft>
                <a:spcPts val="600"/>
              </a:spcAft>
            </a:pPr>
            <a:r>
              <a:rPr sz="1200" b="1" i="0">
                <a:solidFill>
                  <a:srgbClr val="2F6F99"/>
                </a:solidFill>
                <a:latin typeface="Consolas"/>
              </a:rPr>
              <a:t>GEOMETRIC MODELLING · PUSAN NATIONAL UNIVERSITY</a:t>
            </a:r>
          </a:p>
        </p:txBody>
      </p:sp>
      <p:sp>
        <p:nvSpPr>
          <p:cNvPr id="3" name="TextBox 2"/>
          <p:cNvSpPr txBox="1"/>
          <p:nvPr/>
        </p:nvSpPr>
        <p:spPr>
          <a:xfrm>
            <a:off x="822960" y="2468880"/>
            <a:ext cx="10515600" cy="1463040"/>
          </a:xfrm>
          <a:prstGeom prst="rect">
            <a:avLst/>
          </a:prstGeom>
          <a:noFill/>
        </p:spPr>
        <p:txBody>
          <a:bodyPr wrap="square">
            <a:spAutoFit/>
          </a:bodyPr>
          <a:lstStyle/>
          <a:p>
            <a:pPr>
              <a:spcAft>
                <a:spcPts val="600"/>
              </a:spcAft>
            </a:pPr>
            <a:r>
              <a:rPr sz="5400" b="1" i="0">
                <a:solidFill>
                  <a:srgbClr val="141A20"/>
                </a:solidFill>
                <a:latin typeface="Segoe UI"/>
              </a:rPr>
              <a:t>How a 3D Model Becomes a Puzzle</a:t>
            </a:r>
          </a:p>
        </p:txBody>
      </p:sp>
      <p:sp>
        <p:nvSpPr>
          <p:cNvPr id="4" name="TextBox 3"/>
          <p:cNvSpPr txBox="1"/>
          <p:nvPr/>
        </p:nvSpPr>
        <p:spPr>
          <a:xfrm>
            <a:off x="822960" y="3977639"/>
            <a:ext cx="8412480" cy="1280160"/>
          </a:xfrm>
          <a:prstGeom prst="rect">
            <a:avLst/>
          </a:prstGeom>
          <a:noFill/>
        </p:spPr>
        <p:txBody>
          <a:bodyPr wrap="square">
            <a:spAutoFit/>
          </a:bodyPr>
          <a:lstStyle/>
          <a:p>
            <a:pPr>
              <a:spcAft>
                <a:spcPts val="600"/>
              </a:spcAft>
            </a:pPr>
            <a:r>
              <a:rPr sz="1800" b="0" i="0">
                <a:solidFill>
                  <a:srgbClr val="5C6874"/>
                </a:solidFill>
                <a:latin typeface="Georgia"/>
              </a:rPr>
              <a:t>Take any 3D model. Cut it into a handful of solid pieces that can each be 3D-printed and then fitted back together.</a:t>
            </a:r>
          </a:p>
          <a:p>
            <a:pPr>
              <a:spcAft>
                <a:spcPts val="600"/>
              </a:spcAft>
            </a:pPr>
            <a:r>
              <a:rPr sz="1800" b="0" i="0">
                <a:solidFill>
                  <a:srgbClr val="141A20"/>
                </a:solidFill>
                <a:latin typeface="Georgia"/>
              </a:rPr>
              <a:t>This is how the program decides where to cut.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GOAL</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One model in, several printable pieces out</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2</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Not slices, and not a grid of identical blocks. Pieces of different shapes that only go back together one way — a puzzle.</a:t>
            </a:r>
          </a:p>
        </p:txBody>
      </p:sp>
      <p:pic>
        <p:nvPicPr>
          <p:cNvPr id="6" name="Picture 5" descr="goal.png"/>
          <p:cNvPicPr>
            <a:picLocks noChangeAspect="1"/>
          </p:cNvPicPr>
          <p:nvPr/>
        </p:nvPicPr>
        <p:blipFill>
          <a:blip r:embed="rId2"/>
          <a:stretch>
            <a:fillRect/>
          </a:stretch>
        </p:blipFill>
        <p:spPr>
          <a:xfrm>
            <a:off x="1409547" y="2514600"/>
            <a:ext cx="9372600" cy="374903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TRICK</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Cut a simple box, then trim it to the model</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3</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Cutting a complicated shape directly is hard. So the program puts the model inside a plain box, cuts the box into parts, and then trims each part back to the model.</a:t>
            </a:r>
          </a:p>
          <a:p>
            <a:pPr>
              <a:spcAft>
                <a:spcPts val="800"/>
              </a:spcAft>
            </a:pPr>
            <a:r>
              <a:rPr sz="1550" b="0" i="0">
                <a:solidFill>
                  <a:srgbClr val="5C6874"/>
                </a:solidFill>
                <a:latin typeface="Georgia"/>
              </a:rPr>
              <a:t>The pieces end up with the model’s real surface.</a:t>
            </a:r>
          </a:p>
        </p:txBody>
      </p:sp>
      <p:pic>
        <p:nvPicPr>
          <p:cNvPr id="6" name="Picture 5" descr="method.png"/>
          <p:cNvPicPr>
            <a:picLocks noChangeAspect="1"/>
          </p:cNvPicPr>
          <p:nvPr/>
        </p:nvPicPr>
        <p:blipFill>
          <a:blip r:embed="rId2"/>
          <a:stretch>
            <a:fillRect/>
          </a:stretch>
        </p:blipFill>
        <p:spPr>
          <a:xfrm>
            <a:off x="1617977" y="2880360"/>
            <a:ext cx="8955741" cy="3383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PROBLEM</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A box around a model is mostly empty</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4</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Between the arms, between the legs, around every curve — most of the box is air, and the program cutting it up cannot see the model at all.</a:t>
            </a:r>
          </a:p>
        </p:txBody>
      </p:sp>
      <p:pic>
        <p:nvPicPr>
          <p:cNvPr id="6" name="Picture 5" descr="air.png"/>
          <p:cNvPicPr>
            <a:picLocks noChangeAspect="1"/>
          </p:cNvPicPr>
          <p:nvPr/>
        </p:nvPicPr>
        <p:blipFill>
          <a:blip r:embed="rId2"/>
          <a:stretch>
            <a:fillRect/>
          </a:stretch>
        </p:blipFill>
        <p:spPr>
          <a:xfrm>
            <a:off x="1981047" y="2514600"/>
            <a:ext cx="8229600" cy="3840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WHAT GOES WRONG</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Cut the box evenly and you lose a piece</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5</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Halve the box, then halve it again, and sooner or later one of the parts lands where there is nothing. Trim it to the model and it yields nothing at all.</a:t>
            </a:r>
          </a:p>
          <a:p>
            <a:pPr>
              <a:spcAft>
                <a:spcPts val="800"/>
              </a:spcAft>
            </a:pPr>
            <a:r>
              <a:rPr sz="1550" b="0" i="0">
                <a:solidFill>
                  <a:srgbClr val="5C6874"/>
                </a:solidFill>
                <a:latin typeface="Georgia"/>
              </a:rPr>
              <a:t>Here four parts give three pieces; on a real statue, six gave five.</a:t>
            </a:r>
          </a:p>
        </p:txBody>
      </p:sp>
      <p:pic>
        <p:nvPicPr>
          <p:cNvPr id="6" name="Picture 5" descr="naive.png"/>
          <p:cNvPicPr>
            <a:picLocks noChangeAspect="1"/>
          </p:cNvPicPr>
          <p:nvPr/>
        </p:nvPicPr>
        <p:blipFill>
          <a:blip r:embed="rId2"/>
          <a:stretch>
            <a:fillRect/>
          </a:stretch>
        </p:blipFill>
        <p:spPr>
          <a:xfrm>
            <a:off x="2186787" y="2880360"/>
            <a:ext cx="7818119" cy="34747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spAutoFit/>
          </a:bodyPr>
          <a:lstStyle/>
          <a:p>
            <a:pPr>
              <a:spcAft>
                <a:spcPts val="600"/>
              </a:spcAft>
            </a:pPr>
            <a:r>
              <a:rPr sz="1200" b="1" i="0">
                <a:solidFill>
                  <a:srgbClr val="2F6F99"/>
                </a:solidFill>
                <a:latin typeface="Consolas"/>
              </a:rPr>
              <a:t>THE FIX</a:t>
            </a:r>
          </a:p>
        </p:txBody>
      </p:sp>
      <p:sp>
        <p:nvSpPr>
          <p:cNvPr id="3" name="TextBox 2"/>
          <p:cNvSpPr txBox="1"/>
          <p:nvPr/>
        </p:nvSpPr>
        <p:spPr>
          <a:xfrm>
            <a:off x="822960" y="2011680"/>
            <a:ext cx="10058400" cy="2377440"/>
          </a:xfrm>
          <a:prstGeom prst="rect">
            <a:avLst/>
          </a:prstGeom>
          <a:noFill/>
        </p:spPr>
        <p:txBody>
          <a:bodyPr wrap="square">
            <a:spAutoFit/>
          </a:bodyPr>
          <a:lstStyle/>
          <a:p>
            <a:pPr>
              <a:spcAft>
                <a:spcPts val="600"/>
              </a:spcAft>
            </a:pPr>
            <a:r>
              <a:rPr sz="4400" b="1" i="0">
                <a:solidFill>
                  <a:srgbClr val="141A20"/>
                </a:solidFill>
                <a:latin typeface="Segoe UI"/>
              </a:rPr>
              <a:t>Stop cutting the box evenly.</a:t>
            </a:r>
          </a:p>
          <a:p>
            <a:r>
              <a:rPr sz="4400" b="1">
                <a:solidFill>
                  <a:srgbClr val="141A20"/>
                </a:solidFill>
                <a:latin typeface="Segoe UI"/>
              </a:rPr>
              <a:t>Cut where the </a:t>
            </a:r>
            <a:r>
              <a:rPr sz="4400" b="1">
                <a:solidFill>
                  <a:srgbClr val="B96D1F"/>
                </a:solidFill>
                <a:latin typeface="Segoe UI"/>
              </a:rPr>
              <a:t>model</a:t>
            </a:r>
            <a:r>
              <a:rPr sz="4400" b="1">
                <a:solidFill>
                  <a:srgbClr val="141A20"/>
                </a:solidFill>
                <a:latin typeface="Segoe UI"/>
              </a:rPr>
              <a:t> actually is.</a:t>
            </a:r>
          </a:p>
        </p:txBody>
      </p:sp>
      <p:sp>
        <p:nvSpPr>
          <p:cNvPr id="4" name="TextBox 3"/>
          <p:cNvSpPr txBox="1"/>
          <p:nvPr/>
        </p:nvSpPr>
        <p:spPr>
          <a:xfrm>
            <a:off x="822960" y="4572000"/>
            <a:ext cx="8686800" cy="822960"/>
          </a:xfrm>
          <a:prstGeom prst="rect">
            <a:avLst/>
          </a:prstGeom>
          <a:noFill/>
        </p:spPr>
        <p:txBody>
          <a:bodyPr wrap="square">
            <a:spAutoFit/>
          </a:bodyPr>
          <a:lstStyle/>
          <a:p>
            <a:pPr>
              <a:spcAft>
                <a:spcPts val="600"/>
              </a:spcAft>
            </a:pPr>
            <a:r>
              <a:rPr sz="1700" b="0" i="0">
                <a:solidFill>
                  <a:srgbClr val="5C6874"/>
                </a:solidFill>
                <a:latin typeface="Georgia"/>
              </a:rPr>
              <a:t>Everything that follows is how a program does that when it cannot simply look at the shape the way you can.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STEP 1 · MEASURE</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Fill the model with cubes and count them</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7</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Once, at the start, the model is filled with small cubes. After that the program can ask “how much model is inside this region?” and get an answer immediately — no matter how often it asks.</a:t>
            </a:r>
          </a:p>
        </p:txBody>
      </p:sp>
      <p:pic>
        <p:nvPicPr>
          <p:cNvPr id="6" name="Picture 5" descr="measure.png"/>
          <p:cNvPicPr>
            <a:picLocks noChangeAspect="1"/>
          </p:cNvPicPr>
          <p:nvPr/>
        </p:nvPicPr>
        <p:blipFill>
          <a:blip r:embed="rId2"/>
          <a:stretch>
            <a:fillRect/>
          </a:stretch>
        </p:blipFill>
        <p:spPr>
          <a:xfrm>
            <a:off x="2355120" y="2697480"/>
            <a:ext cx="7481454" cy="3657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STEP 2 · CHOOSE</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Always cut the part holding the most model</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8</a:t>
            </a:r>
          </a:p>
        </p:txBody>
      </p:sp>
      <p:sp>
        <p:nvSpPr>
          <p:cNvPr id="5" name="TextBox 4"/>
          <p:cNvSpPr txBox="1"/>
          <p:nvPr/>
        </p:nvSpPr>
        <p:spPr>
          <a:xfrm>
            <a:off x="658368" y="1920240"/>
            <a:ext cx="10881360" cy="1280160"/>
          </a:xfrm>
          <a:prstGeom prst="rect">
            <a:avLst/>
          </a:prstGeom>
          <a:noFill/>
        </p:spPr>
        <p:txBody>
          <a:bodyPr wrap="square">
            <a:spAutoFit/>
          </a:bodyPr>
          <a:lstStyle/>
          <a:p>
            <a:pPr>
              <a:spcAft>
                <a:spcPts val="800"/>
              </a:spcAft>
            </a:pPr>
            <a:r>
              <a:rPr sz="1800" b="0" i="0">
                <a:solidFill>
                  <a:srgbClr val="5C6874"/>
                </a:solidFill>
                <a:latin typeface="Georgia"/>
              </a:rPr>
              <a:t>Each round, the program looks at the parts it has so far and picks the one containing the most material — never a random one.</a:t>
            </a:r>
          </a:p>
          <a:p>
            <a:pPr>
              <a:spcAft>
                <a:spcPts val="800"/>
              </a:spcAft>
            </a:pPr>
            <a:r>
              <a:rPr sz="1800" b="0" i="0">
                <a:solidFill>
                  <a:srgbClr val="5C6874"/>
                </a:solidFill>
                <a:latin typeface="Georgia"/>
              </a:rPr>
              <a:t>This is what keeps the pieces comparable. Choosing at random once left a single piece holding 80% of the whole model, because the big part simply never came up again.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STEP 3 · PLACE THE CUT</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Aim for a share of the model, not a position</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9</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Rather than cutting at some position and seeing what happens, the program first decides how to divide the material — 62 / 38, say — and then slides the plane until it hands over exactly that much.</a:t>
            </a:r>
          </a:p>
        </p:txBody>
      </p:sp>
      <p:pic>
        <p:nvPicPr>
          <p:cNvPr id="6" name="Picture 5" descr="where.png"/>
          <p:cNvPicPr>
            <a:picLocks noChangeAspect="1"/>
          </p:cNvPicPr>
          <p:nvPr/>
        </p:nvPicPr>
        <p:blipFill>
          <a:blip r:embed="rId2"/>
          <a:stretch>
            <a:fillRect/>
          </a:stretch>
        </p:blipFill>
        <p:spPr>
          <a:xfrm>
            <a:off x="2268126" y="2697480"/>
            <a:ext cx="7655441" cy="3657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STEP 4 · CHECK</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Two cuts the program always refuses</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10</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A cut can hand over the right amount and still be a bad cut. Both of these are rejected, and a different direction is tried instead.</a:t>
            </a:r>
          </a:p>
        </p:txBody>
      </p:sp>
      <p:pic>
        <p:nvPicPr>
          <p:cNvPr id="6" name="Picture 5" descr="rules.png"/>
          <p:cNvPicPr>
            <a:picLocks noChangeAspect="1"/>
          </p:cNvPicPr>
          <p:nvPr/>
        </p:nvPicPr>
        <p:blipFill>
          <a:blip r:embed="rId2"/>
          <a:stretch>
            <a:fillRect/>
          </a:stretch>
        </p:blipFill>
        <p:spPr>
          <a:xfrm>
            <a:off x="1232902" y="2606040"/>
            <a:ext cx="9725890" cy="35661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PUTTING IT TOGETHER</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Five cuts, six pieces</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11</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The shaded part is the one chosen that round — always the fullest — and the orange line is where the cut landed.</a:t>
            </a:r>
          </a:p>
        </p:txBody>
      </p:sp>
      <p:pic>
        <p:nvPicPr>
          <p:cNvPr id="6" name="Picture 5" descr="run.png"/>
          <p:cNvPicPr>
            <a:picLocks noChangeAspect="1"/>
          </p:cNvPicPr>
          <p:nvPr/>
        </p:nvPicPr>
        <p:blipFill>
          <a:blip r:embed="rId2"/>
          <a:stretch>
            <a:fillRect/>
          </a:stretch>
        </p:blipFill>
        <p:spPr>
          <a:xfrm>
            <a:off x="1785104" y="2423160"/>
            <a:ext cx="8621485" cy="4023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LAST STEP</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The box never has to fit the model</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12</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Up to here every part is still a plain box. The detail arrives in one operation at the end: keep only what the box and the model both occupy.</a:t>
            </a:r>
          </a:p>
        </p:txBody>
      </p:sp>
      <p:pic>
        <p:nvPicPr>
          <p:cNvPr id="6" name="Picture 5" descr="bool_before.png"/>
          <p:cNvPicPr>
            <a:picLocks noChangeAspect="1"/>
          </p:cNvPicPr>
          <p:nvPr/>
        </p:nvPicPr>
        <p:blipFill>
          <a:blip r:embed="rId2"/>
          <a:stretch>
            <a:fillRect/>
          </a:stretch>
        </p:blipFill>
        <p:spPr>
          <a:xfrm>
            <a:off x="2647913" y="2468880"/>
            <a:ext cx="2807854" cy="3200400"/>
          </a:xfrm>
          <a:prstGeom prst="rect">
            <a:avLst/>
          </a:prstGeom>
        </p:spPr>
      </p:pic>
      <p:sp>
        <p:nvSpPr>
          <p:cNvPr id="7" name="TextBox 6"/>
          <p:cNvSpPr txBox="1"/>
          <p:nvPr/>
        </p:nvSpPr>
        <p:spPr>
          <a:xfrm>
            <a:off x="2373593" y="5742432"/>
            <a:ext cx="3356494" cy="365760"/>
          </a:xfrm>
          <a:prstGeom prst="rect">
            <a:avLst/>
          </a:prstGeom>
          <a:noFill/>
        </p:spPr>
        <p:txBody>
          <a:bodyPr wrap="square">
            <a:spAutoFit/>
          </a:bodyPr>
          <a:lstStyle/>
          <a:p>
            <a:pPr algn="ctr">
              <a:spcAft>
                <a:spcPts val="600"/>
              </a:spcAft>
            </a:pPr>
            <a:r>
              <a:rPr sz="1250" b="0" i="0">
                <a:solidFill>
                  <a:srgbClr val="5C6874"/>
                </a:solidFill>
                <a:latin typeface="Consolas"/>
              </a:rPr>
              <a:t>Before — one part, still a box</a:t>
            </a:r>
          </a:p>
        </p:txBody>
      </p:sp>
      <p:pic>
        <p:nvPicPr>
          <p:cNvPr id="8" name="Picture 7" descr="bool_after.png"/>
          <p:cNvPicPr>
            <a:picLocks noChangeAspect="1"/>
          </p:cNvPicPr>
          <p:nvPr/>
        </p:nvPicPr>
        <p:blipFill>
          <a:blip r:embed="rId3"/>
          <a:stretch>
            <a:fillRect/>
          </a:stretch>
        </p:blipFill>
        <p:spPr>
          <a:xfrm>
            <a:off x="6735927" y="2468880"/>
            <a:ext cx="2807854" cy="3200400"/>
          </a:xfrm>
          <a:prstGeom prst="rect">
            <a:avLst/>
          </a:prstGeom>
        </p:spPr>
      </p:pic>
      <p:sp>
        <p:nvSpPr>
          <p:cNvPr id="9" name="TextBox 8"/>
          <p:cNvSpPr txBox="1"/>
          <p:nvPr/>
        </p:nvSpPr>
        <p:spPr>
          <a:xfrm>
            <a:off x="6461607" y="5742432"/>
            <a:ext cx="3356494" cy="365760"/>
          </a:xfrm>
          <a:prstGeom prst="rect">
            <a:avLst/>
          </a:prstGeom>
          <a:noFill/>
        </p:spPr>
        <p:txBody>
          <a:bodyPr wrap="square">
            <a:spAutoFit/>
          </a:bodyPr>
          <a:lstStyle/>
          <a:p>
            <a:pPr algn="ctr">
              <a:spcAft>
                <a:spcPts val="600"/>
              </a:spcAft>
            </a:pPr>
            <a:r>
              <a:rPr sz="1250" b="0" i="0">
                <a:solidFill>
                  <a:srgbClr val="5C6874"/>
                </a:solidFill>
                <a:latin typeface="Consolas"/>
              </a:rPr>
              <a:t>After — kept only where the model is</a:t>
            </a:r>
          </a:p>
        </p:txBody>
      </p:sp>
      <p:sp>
        <p:nvSpPr>
          <p:cNvPr id="10" name="TextBox 9"/>
          <p:cNvSpPr txBox="1"/>
          <p:nvPr/>
        </p:nvSpPr>
        <p:spPr>
          <a:xfrm>
            <a:off x="658368" y="6144768"/>
            <a:ext cx="10881360" cy="548640"/>
          </a:xfrm>
          <a:prstGeom prst="rect">
            <a:avLst/>
          </a:prstGeom>
          <a:noFill/>
        </p:spPr>
        <p:txBody>
          <a:bodyPr wrap="square">
            <a:spAutoFit/>
          </a:bodyPr>
          <a:lstStyle/>
          <a:p>
            <a:pPr>
              <a:spcAft>
                <a:spcPts val="600"/>
              </a:spcAft>
            </a:pPr>
            <a:r>
              <a:rPr sz="1400" b="0" i="0">
                <a:solidFill>
                  <a:srgbClr val="141A20"/>
                </a:solidFill>
                <a:latin typeface="Georgia"/>
              </a:rPr>
              <a:t>The outside is the model’s real surface; the flat faces are the box’s — the cuts that let the pieces fit back together.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RESULT</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What changed, measured on a real model</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13</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A statue of an armadillo — arms, legs, a tail, and a great deal of air around them. Ask for six pieces:</a:t>
            </a:r>
          </a:p>
        </p:txBody>
      </p:sp>
      <p:sp>
        <p:nvSpPr>
          <p:cNvPr id="6" name="Rectangle 5"/>
          <p:cNvSpPr/>
          <p:nvPr/>
        </p:nvSpPr>
        <p:spPr>
          <a:xfrm>
            <a:off x="658368" y="2743200"/>
            <a:ext cx="2514600" cy="28575"/>
          </a:xfrm>
          <a:prstGeom prst="rect">
            <a:avLst/>
          </a:prstGeom>
          <a:solidFill>
            <a:srgbClr val="2F6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3" y="2852928"/>
            <a:ext cx="2651760" cy="1737360"/>
          </a:xfrm>
          <a:prstGeom prst="rect">
            <a:avLst/>
          </a:prstGeom>
          <a:noFill/>
        </p:spPr>
        <p:txBody>
          <a:bodyPr wrap="square">
            <a:spAutoFit/>
          </a:bodyPr>
          <a:lstStyle/>
          <a:p>
            <a:pPr>
              <a:spcAft>
                <a:spcPts val="200"/>
              </a:spcAft>
            </a:pPr>
            <a:r>
              <a:rPr sz="3400" b="1" i="0">
                <a:solidFill>
                  <a:srgbClr val="141A20"/>
                </a:solidFill>
                <a:latin typeface="Segoe UI"/>
              </a:rPr>
              <a:t>6 of 6</a:t>
            </a:r>
          </a:p>
          <a:p>
            <a:pPr>
              <a:spcAft>
                <a:spcPts val="0"/>
              </a:spcAft>
            </a:pPr>
            <a:r>
              <a:rPr sz="1300" b="0" i="0">
                <a:solidFill>
                  <a:srgbClr val="5C6874"/>
                </a:solidFill>
                <a:latin typeface="Georgia"/>
              </a:rPr>
              <a:t>pieces returned, where the old</a:t>
            </a:r>
          </a:p>
          <a:p>
            <a:pPr>
              <a:spcAft>
                <a:spcPts val="0"/>
              </a:spcAft>
            </a:pPr>
            <a:r>
              <a:rPr sz="1300" b="0" i="0">
                <a:solidFill>
                  <a:srgbClr val="5C6874"/>
                </a:solidFill>
                <a:latin typeface="Georgia"/>
              </a:rPr>
              <a:t>method returned five</a:t>
            </a:r>
          </a:p>
        </p:txBody>
      </p:sp>
      <p:sp>
        <p:nvSpPr>
          <p:cNvPr id="8" name="Rectangle 7"/>
          <p:cNvSpPr/>
          <p:nvPr/>
        </p:nvSpPr>
        <p:spPr>
          <a:xfrm>
            <a:off x="3456432" y="2743200"/>
            <a:ext cx="2514600" cy="28575"/>
          </a:xfrm>
          <a:prstGeom prst="rect">
            <a:avLst/>
          </a:prstGeom>
          <a:solidFill>
            <a:srgbClr val="2F6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01568" y="2852928"/>
            <a:ext cx="2651760" cy="1737360"/>
          </a:xfrm>
          <a:prstGeom prst="rect">
            <a:avLst/>
          </a:prstGeom>
          <a:noFill/>
        </p:spPr>
        <p:txBody>
          <a:bodyPr wrap="square">
            <a:spAutoFit/>
          </a:bodyPr>
          <a:lstStyle/>
          <a:p>
            <a:pPr>
              <a:spcAft>
                <a:spcPts val="200"/>
              </a:spcAft>
            </a:pPr>
            <a:r>
              <a:rPr sz="3400" b="1" i="0">
                <a:solidFill>
                  <a:srgbClr val="141A20"/>
                </a:solidFill>
                <a:latin typeface="Segoe UI"/>
              </a:rPr>
              <a:t>100%</a:t>
            </a:r>
          </a:p>
          <a:p>
            <a:pPr>
              <a:spcAft>
                <a:spcPts val="0"/>
              </a:spcAft>
            </a:pPr>
            <a:r>
              <a:rPr sz="1300" b="0" i="0">
                <a:solidFill>
                  <a:srgbClr val="5C6874"/>
                </a:solidFill>
                <a:latin typeface="Georgia"/>
              </a:rPr>
              <a:t>of the model ends up in the</a:t>
            </a:r>
          </a:p>
          <a:p>
            <a:pPr>
              <a:spcAft>
                <a:spcPts val="0"/>
              </a:spcAft>
            </a:pPr>
            <a:r>
              <a:rPr sz="1300" b="0" i="0">
                <a:solidFill>
                  <a:srgbClr val="5C6874"/>
                </a:solidFill>
                <a:latin typeface="Georgia"/>
              </a:rPr>
              <a:t>pieces — nothing lost</a:t>
            </a:r>
          </a:p>
        </p:txBody>
      </p:sp>
      <p:sp>
        <p:nvSpPr>
          <p:cNvPr id="10" name="Rectangle 9"/>
          <p:cNvSpPr/>
          <p:nvPr/>
        </p:nvSpPr>
        <p:spPr>
          <a:xfrm>
            <a:off x="6254496" y="2743200"/>
            <a:ext cx="2514600" cy="28575"/>
          </a:xfrm>
          <a:prstGeom prst="rect">
            <a:avLst/>
          </a:prstGeom>
          <a:solidFill>
            <a:srgbClr val="2F6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9632" y="2852928"/>
            <a:ext cx="2651760" cy="1737360"/>
          </a:xfrm>
          <a:prstGeom prst="rect">
            <a:avLst/>
          </a:prstGeom>
          <a:noFill/>
        </p:spPr>
        <p:txBody>
          <a:bodyPr wrap="square">
            <a:spAutoFit/>
          </a:bodyPr>
          <a:lstStyle/>
          <a:p>
            <a:pPr>
              <a:spcAft>
                <a:spcPts val="200"/>
              </a:spcAft>
            </a:pPr>
            <a:r>
              <a:rPr sz="3400" b="1" i="0">
                <a:solidFill>
                  <a:srgbClr val="141A20"/>
                </a:solidFill>
                <a:latin typeface="Segoe UI"/>
              </a:rPr>
              <a:t>2.8×</a:t>
            </a:r>
          </a:p>
          <a:p>
            <a:pPr>
              <a:spcAft>
                <a:spcPts val="0"/>
              </a:spcAft>
            </a:pPr>
            <a:r>
              <a:rPr sz="1300" b="0" i="0">
                <a:solidFill>
                  <a:srgbClr val="5C6874"/>
                </a:solidFill>
                <a:latin typeface="Georgia"/>
              </a:rPr>
              <a:t>between largest and smallest</a:t>
            </a:r>
          </a:p>
          <a:p>
            <a:pPr>
              <a:spcAft>
                <a:spcPts val="0"/>
              </a:spcAft>
            </a:pPr>
            <a:r>
              <a:rPr sz="1300" b="0" i="0">
                <a:solidFill>
                  <a:srgbClr val="5C6874"/>
                </a:solidFill>
                <a:latin typeface="Georgia"/>
              </a:rPr>
              <a:t>piece, down from 175×</a:t>
            </a:r>
          </a:p>
        </p:txBody>
      </p:sp>
      <p:sp>
        <p:nvSpPr>
          <p:cNvPr id="12" name="Rectangle 11"/>
          <p:cNvSpPr/>
          <p:nvPr/>
        </p:nvSpPr>
        <p:spPr>
          <a:xfrm>
            <a:off x="9052560" y="2743200"/>
            <a:ext cx="2514600" cy="28575"/>
          </a:xfrm>
          <a:prstGeom prst="rect">
            <a:avLst/>
          </a:prstGeom>
          <a:solidFill>
            <a:srgbClr val="2F6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97696" y="2852928"/>
            <a:ext cx="2651760" cy="1737360"/>
          </a:xfrm>
          <a:prstGeom prst="rect">
            <a:avLst/>
          </a:prstGeom>
          <a:noFill/>
        </p:spPr>
        <p:txBody>
          <a:bodyPr wrap="square">
            <a:spAutoFit/>
          </a:bodyPr>
          <a:lstStyle/>
          <a:p>
            <a:pPr>
              <a:spcAft>
                <a:spcPts val="200"/>
              </a:spcAft>
            </a:pPr>
            <a:r>
              <a:rPr sz="3400" b="1" i="0">
                <a:solidFill>
                  <a:srgbClr val="141A20"/>
                </a:solidFill>
                <a:latin typeface="Segoe UI"/>
              </a:rPr>
              <a:t>0</a:t>
            </a:r>
          </a:p>
          <a:p>
            <a:pPr>
              <a:spcAft>
                <a:spcPts val="0"/>
              </a:spcAft>
            </a:pPr>
            <a:r>
              <a:rPr sz="1300" b="0" i="0">
                <a:solidFill>
                  <a:srgbClr val="5C6874"/>
                </a:solidFill>
                <a:latin typeface="Georgia"/>
              </a:rPr>
              <a:t>pieces that fall apart into</a:t>
            </a:r>
          </a:p>
          <a:p>
            <a:pPr>
              <a:spcAft>
                <a:spcPts val="0"/>
              </a:spcAft>
            </a:pPr>
            <a:r>
              <a:rPr sz="1300" b="0" i="0">
                <a:solidFill>
                  <a:srgbClr val="5C6874"/>
                </a:solidFill>
                <a:latin typeface="Georgia"/>
              </a:rPr>
              <a:t>loose bits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IN ONE SLIDE</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The whole idea</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14</a:t>
            </a:r>
          </a:p>
        </p:txBody>
      </p:sp>
      <p:sp>
        <p:nvSpPr>
          <p:cNvPr id="5" name="TextBox 4"/>
          <p:cNvSpPr txBox="1"/>
          <p:nvPr/>
        </p:nvSpPr>
        <p:spPr>
          <a:xfrm>
            <a:off x="658368" y="1828800"/>
            <a:ext cx="548640" cy="365760"/>
          </a:xfrm>
          <a:prstGeom prst="rect">
            <a:avLst/>
          </a:prstGeom>
          <a:noFill/>
        </p:spPr>
        <p:txBody>
          <a:bodyPr wrap="square">
            <a:spAutoFit/>
          </a:bodyPr>
          <a:lstStyle/>
          <a:p>
            <a:pPr>
              <a:spcAft>
                <a:spcPts val="600"/>
              </a:spcAft>
            </a:pPr>
            <a:r>
              <a:rPr sz="1300" b="0" i="0">
                <a:solidFill>
                  <a:srgbClr val="2F6F99"/>
                </a:solidFill>
                <a:latin typeface="Consolas"/>
              </a:rPr>
              <a:t>01</a:t>
            </a:r>
          </a:p>
        </p:txBody>
      </p:sp>
      <p:sp>
        <p:nvSpPr>
          <p:cNvPr id="6" name="TextBox 5"/>
          <p:cNvSpPr txBox="1"/>
          <p:nvPr/>
        </p:nvSpPr>
        <p:spPr>
          <a:xfrm>
            <a:off x="1325880" y="1773936"/>
            <a:ext cx="10058400" cy="731520"/>
          </a:xfrm>
          <a:prstGeom prst="rect">
            <a:avLst/>
          </a:prstGeom>
          <a:noFill/>
        </p:spPr>
        <p:txBody>
          <a:bodyPr wrap="square">
            <a:spAutoFit/>
          </a:bodyPr>
          <a:lstStyle/>
          <a:p>
            <a:pPr>
              <a:spcAft>
                <a:spcPts val="100"/>
              </a:spcAft>
            </a:pPr>
            <a:r>
              <a:rPr sz="1700" b="1" i="0">
                <a:solidFill>
                  <a:srgbClr val="141A20"/>
                </a:solidFill>
                <a:latin typeface="Segoe UI"/>
              </a:rPr>
              <a:t>Box it</a:t>
            </a:r>
          </a:p>
          <a:p>
            <a:pPr>
              <a:spcAft>
                <a:spcPts val="0"/>
              </a:spcAft>
            </a:pPr>
            <a:r>
              <a:rPr sz="1400" b="0" i="0">
                <a:solidFill>
                  <a:srgbClr val="5C6874"/>
                </a:solidFill>
                <a:latin typeface="Georgia"/>
              </a:rPr>
              <a:t>Put the model in a plain box, because a box is easy to cut.</a:t>
            </a:r>
          </a:p>
        </p:txBody>
      </p:sp>
      <p:sp>
        <p:nvSpPr>
          <p:cNvPr id="7" name="TextBox 6"/>
          <p:cNvSpPr txBox="1"/>
          <p:nvPr/>
        </p:nvSpPr>
        <p:spPr>
          <a:xfrm>
            <a:off x="658368" y="2578608"/>
            <a:ext cx="548640" cy="365760"/>
          </a:xfrm>
          <a:prstGeom prst="rect">
            <a:avLst/>
          </a:prstGeom>
          <a:noFill/>
        </p:spPr>
        <p:txBody>
          <a:bodyPr wrap="square">
            <a:spAutoFit/>
          </a:bodyPr>
          <a:lstStyle/>
          <a:p>
            <a:pPr>
              <a:spcAft>
                <a:spcPts val="600"/>
              </a:spcAft>
            </a:pPr>
            <a:r>
              <a:rPr sz="1300" b="0" i="0">
                <a:solidFill>
                  <a:srgbClr val="2F6F99"/>
                </a:solidFill>
                <a:latin typeface="Consolas"/>
              </a:rPr>
              <a:t>02</a:t>
            </a:r>
          </a:p>
        </p:txBody>
      </p:sp>
      <p:sp>
        <p:nvSpPr>
          <p:cNvPr id="8" name="TextBox 7"/>
          <p:cNvSpPr txBox="1"/>
          <p:nvPr/>
        </p:nvSpPr>
        <p:spPr>
          <a:xfrm>
            <a:off x="1325880" y="2523744"/>
            <a:ext cx="10058400" cy="731520"/>
          </a:xfrm>
          <a:prstGeom prst="rect">
            <a:avLst/>
          </a:prstGeom>
          <a:noFill/>
        </p:spPr>
        <p:txBody>
          <a:bodyPr wrap="square">
            <a:spAutoFit/>
          </a:bodyPr>
          <a:lstStyle/>
          <a:p>
            <a:pPr>
              <a:spcAft>
                <a:spcPts val="100"/>
              </a:spcAft>
            </a:pPr>
            <a:r>
              <a:rPr sz="1700" b="1" i="0">
                <a:solidFill>
                  <a:srgbClr val="141A20"/>
                </a:solidFill>
                <a:latin typeface="Segoe UI"/>
              </a:rPr>
              <a:t>Measure it</a:t>
            </a:r>
          </a:p>
          <a:p>
            <a:pPr>
              <a:spcAft>
                <a:spcPts val="0"/>
              </a:spcAft>
            </a:pPr>
            <a:r>
              <a:rPr sz="1400" b="0" i="0">
                <a:solidFill>
                  <a:srgbClr val="5C6874"/>
                </a:solidFill>
                <a:latin typeface="Georgia"/>
              </a:rPr>
              <a:t>Fill the model with cubes, so the program can tell where the material is.</a:t>
            </a:r>
          </a:p>
        </p:txBody>
      </p:sp>
      <p:sp>
        <p:nvSpPr>
          <p:cNvPr id="9" name="TextBox 8"/>
          <p:cNvSpPr txBox="1"/>
          <p:nvPr/>
        </p:nvSpPr>
        <p:spPr>
          <a:xfrm>
            <a:off x="658368" y="3328415"/>
            <a:ext cx="548640" cy="365760"/>
          </a:xfrm>
          <a:prstGeom prst="rect">
            <a:avLst/>
          </a:prstGeom>
          <a:noFill/>
        </p:spPr>
        <p:txBody>
          <a:bodyPr wrap="square">
            <a:spAutoFit/>
          </a:bodyPr>
          <a:lstStyle/>
          <a:p>
            <a:pPr>
              <a:spcAft>
                <a:spcPts val="600"/>
              </a:spcAft>
            </a:pPr>
            <a:r>
              <a:rPr sz="1300" b="0" i="0">
                <a:solidFill>
                  <a:srgbClr val="2F6F99"/>
                </a:solidFill>
                <a:latin typeface="Consolas"/>
              </a:rPr>
              <a:t>03</a:t>
            </a:r>
          </a:p>
        </p:txBody>
      </p:sp>
      <p:sp>
        <p:nvSpPr>
          <p:cNvPr id="10" name="TextBox 9"/>
          <p:cNvSpPr txBox="1"/>
          <p:nvPr/>
        </p:nvSpPr>
        <p:spPr>
          <a:xfrm>
            <a:off x="1325880" y="3273551"/>
            <a:ext cx="10058400" cy="731520"/>
          </a:xfrm>
          <a:prstGeom prst="rect">
            <a:avLst/>
          </a:prstGeom>
          <a:noFill/>
        </p:spPr>
        <p:txBody>
          <a:bodyPr wrap="square">
            <a:spAutoFit/>
          </a:bodyPr>
          <a:lstStyle/>
          <a:p>
            <a:pPr>
              <a:spcAft>
                <a:spcPts val="100"/>
              </a:spcAft>
            </a:pPr>
            <a:r>
              <a:rPr sz="1700" b="1" i="0">
                <a:solidFill>
                  <a:srgbClr val="141A20"/>
                </a:solidFill>
                <a:latin typeface="Segoe UI"/>
              </a:rPr>
              <a:t>Cut the fullest part</a:t>
            </a:r>
          </a:p>
          <a:p>
            <a:pPr>
              <a:spcAft>
                <a:spcPts val="0"/>
              </a:spcAft>
            </a:pPr>
            <a:r>
              <a:rPr sz="1400" b="0" i="0">
                <a:solidFill>
                  <a:srgbClr val="5C6874"/>
                </a:solidFill>
                <a:latin typeface="Georgia"/>
              </a:rPr>
              <a:t>Every round, split whichever part holds the most model.</a:t>
            </a:r>
          </a:p>
        </p:txBody>
      </p:sp>
      <p:sp>
        <p:nvSpPr>
          <p:cNvPr id="11" name="TextBox 10"/>
          <p:cNvSpPr txBox="1"/>
          <p:nvPr/>
        </p:nvSpPr>
        <p:spPr>
          <a:xfrm>
            <a:off x="658368" y="4078224"/>
            <a:ext cx="548640" cy="365760"/>
          </a:xfrm>
          <a:prstGeom prst="rect">
            <a:avLst/>
          </a:prstGeom>
          <a:noFill/>
        </p:spPr>
        <p:txBody>
          <a:bodyPr wrap="square">
            <a:spAutoFit/>
          </a:bodyPr>
          <a:lstStyle/>
          <a:p>
            <a:pPr>
              <a:spcAft>
                <a:spcPts val="600"/>
              </a:spcAft>
            </a:pPr>
            <a:r>
              <a:rPr sz="1300" b="0" i="0">
                <a:solidFill>
                  <a:srgbClr val="2F6F99"/>
                </a:solidFill>
                <a:latin typeface="Consolas"/>
              </a:rPr>
              <a:t>04</a:t>
            </a:r>
          </a:p>
        </p:txBody>
      </p:sp>
      <p:sp>
        <p:nvSpPr>
          <p:cNvPr id="12" name="TextBox 11"/>
          <p:cNvSpPr txBox="1"/>
          <p:nvPr/>
        </p:nvSpPr>
        <p:spPr>
          <a:xfrm>
            <a:off x="1325880" y="4023360"/>
            <a:ext cx="10058400" cy="731520"/>
          </a:xfrm>
          <a:prstGeom prst="rect">
            <a:avLst/>
          </a:prstGeom>
          <a:noFill/>
        </p:spPr>
        <p:txBody>
          <a:bodyPr wrap="square">
            <a:spAutoFit/>
          </a:bodyPr>
          <a:lstStyle/>
          <a:p>
            <a:pPr>
              <a:spcAft>
                <a:spcPts val="100"/>
              </a:spcAft>
            </a:pPr>
            <a:r>
              <a:rPr sz="1700" b="1" i="0">
                <a:solidFill>
                  <a:srgbClr val="141A20"/>
                </a:solidFill>
                <a:latin typeface="Segoe UI"/>
              </a:rPr>
              <a:t>Split the material, not the space</a:t>
            </a:r>
          </a:p>
          <a:p>
            <a:pPr>
              <a:spcAft>
                <a:spcPts val="0"/>
              </a:spcAft>
            </a:pPr>
            <a:r>
              <a:rPr sz="1400" b="0" i="0">
                <a:solidFill>
                  <a:srgbClr val="5C6874"/>
                </a:solidFill>
                <a:latin typeface="Georgia"/>
              </a:rPr>
              <a:t>Choose how much model goes each way, then find the plane that does it.</a:t>
            </a:r>
          </a:p>
        </p:txBody>
      </p:sp>
      <p:sp>
        <p:nvSpPr>
          <p:cNvPr id="13" name="TextBox 12"/>
          <p:cNvSpPr txBox="1"/>
          <p:nvPr/>
        </p:nvSpPr>
        <p:spPr>
          <a:xfrm>
            <a:off x="658368" y="4828031"/>
            <a:ext cx="548640" cy="365760"/>
          </a:xfrm>
          <a:prstGeom prst="rect">
            <a:avLst/>
          </a:prstGeom>
          <a:noFill/>
        </p:spPr>
        <p:txBody>
          <a:bodyPr wrap="square">
            <a:spAutoFit/>
          </a:bodyPr>
          <a:lstStyle/>
          <a:p>
            <a:pPr>
              <a:spcAft>
                <a:spcPts val="600"/>
              </a:spcAft>
            </a:pPr>
            <a:r>
              <a:rPr sz="1300" b="0" i="0">
                <a:solidFill>
                  <a:srgbClr val="2F6F99"/>
                </a:solidFill>
                <a:latin typeface="Consolas"/>
              </a:rPr>
              <a:t>05</a:t>
            </a:r>
          </a:p>
        </p:txBody>
      </p:sp>
      <p:sp>
        <p:nvSpPr>
          <p:cNvPr id="14" name="TextBox 13"/>
          <p:cNvSpPr txBox="1"/>
          <p:nvPr/>
        </p:nvSpPr>
        <p:spPr>
          <a:xfrm>
            <a:off x="1325880" y="4773168"/>
            <a:ext cx="10058400" cy="731520"/>
          </a:xfrm>
          <a:prstGeom prst="rect">
            <a:avLst/>
          </a:prstGeom>
          <a:noFill/>
        </p:spPr>
        <p:txBody>
          <a:bodyPr wrap="square">
            <a:spAutoFit/>
          </a:bodyPr>
          <a:lstStyle/>
          <a:p>
            <a:pPr>
              <a:spcAft>
                <a:spcPts val="100"/>
              </a:spcAft>
            </a:pPr>
            <a:r>
              <a:rPr sz="1700" b="1" i="0">
                <a:solidFill>
                  <a:srgbClr val="141A20"/>
                </a:solidFill>
                <a:latin typeface="Segoe UI"/>
              </a:rPr>
              <a:t>Refuse bad cuts</a:t>
            </a:r>
          </a:p>
          <a:p>
            <a:pPr>
              <a:spcAft>
                <a:spcPts val="0"/>
              </a:spcAft>
            </a:pPr>
            <a:r>
              <a:rPr sz="1400" b="0" i="0">
                <a:solidFill>
                  <a:srgbClr val="5C6874"/>
                </a:solidFill>
                <a:latin typeface="Georgia"/>
              </a:rPr>
              <a:t>Never leave a part empty, never leave one in two loose bits.</a:t>
            </a:r>
          </a:p>
        </p:txBody>
      </p:sp>
      <p:sp>
        <p:nvSpPr>
          <p:cNvPr id="15" name="TextBox 14"/>
          <p:cNvSpPr txBox="1"/>
          <p:nvPr/>
        </p:nvSpPr>
        <p:spPr>
          <a:xfrm>
            <a:off x="658368" y="5577840"/>
            <a:ext cx="548640" cy="365760"/>
          </a:xfrm>
          <a:prstGeom prst="rect">
            <a:avLst/>
          </a:prstGeom>
          <a:noFill/>
        </p:spPr>
        <p:txBody>
          <a:bodyPr wrap="square">
            <a:spAutoFit/>
          </a:bodyPr>
          <a:lstStyle/>
          <a:p>
            <a:pPr>
              <a:spcAft>
                <a:spcPts val="600"/>
              </a:spcAft>
            </a:pPr>
            <a:r>
              <a:rPr sz="1300" b="0" i="0">
                <a:solidFill>
                  <a:srgbClr val="2F6F99"/>
                </a:solidFill>
                <a:latin typeface="Consolas"/>
              </a:rPr>
              <a:t>06</a:t>
            </a:r>
          </a:p>
        </p:txBody>
      </p:sp>
      <p:sp>
        <p:nvSpPr>
          <p:cNvPr id="16" name="TextBox 15"/>
          <p:cNvSpPr txBox="1"/>
          <p:nvPr/>
        </p:nvSpPr>
        <p:spPr>
          <a:xfrm>
            <a:off x="1325880" y="5522976"/>
            <a:ext cx="10058400" cy="731520"/>
          </a:xfrm>
          <a:prstGeom prst="rect">
            <a:avLst/>
          </a:prstGeom>
          <a:noFill/>
        </p:spPr>
        <p:txBody>
          <a:bodyPr wrap="square">
            <a:spAutoFit/>
          </a:bodyPr>
          <a:lstStyle/>
          <a:p>
            <a:pPr>
              <a:spcAft>
                <a:spcPts val="100"/>
              </a:spcAft>
            </a:pPr>
            <a:r>
              <a:rPr sz="1700" b="1" i="0">
                <a:solidFill>
                  <a:srgbClr val="141A20"/>
                </a:solidFill>
                <a:latin typeface="Segoe UI"/>
              </a:rPr>
              <a:t>Trim to the model</a:t>
            </a:r>
          </a:p>
          <a:p>
            <a:pPr>
              <a:spcAft>
                <a:spcPts val="0"/>
              </a:spcAft>
            </a:pPr>
            <a:r>
              <a:rPr sz="1400" b="0" i="0">
                <a:solidFill>
                  <a:srgbClr val="5C6874"/>
                </a:solidFill>
                <a:latin typeface="Georgia"/>
              </a:rPr>
              <a:t>Each part is cut back to the real surface — and those are the pieces.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APPENDIX</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How many cubes, exactly?</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15</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The resolution is fixed, not the count: 96 cubes along the model’s longest side, with the other two axes scaled so the cubes stay cubic. The total therefore depends on the shape of the bounding box.</a:t>
            </a:r>
          </a:p>
        </p:txBody>
      </p:sp>
      <p:graphicFrame>
        <p:nvGraphicFramePr>
          <p:cNvPr id="6" name="Table 5"/>
          <p:cNvGraphicFramePr>
            <a:graphicFrameLocks noGrp="1"/>
          </p:cNvGraphicFramePr>
          <p:nvPr/>
        </p:nvGraphicFramePr>
        <p:xfrm>
          <a:off x="658368" y="2834640"/>
          <a:ext cx="10881360" cy="1737360"/>
        </p:xfrm>
        <a:graphic>
          <a:graphicData uri="http://schemas.openxmlformats.org/drawingml/2006/table">
            <a:tbl>
              <a:tblPr firstRow="1" bandRow="1">
                <a:tableStyleId>{5C22544A-7EE6-4342-B048-85BDC9FD1C3A}</a:tableStyleId>
              </a:tblPr>
              <a:tblGrid>
                <a:gridCol w="2103120"/>
                <a:gridCol w="2377440"/>
                <a:gridCol w="2011680"/>
                <a:gridCol w="2926080"/>
                <a:gridCol w="1463040"/>
              </a:tblGrid>
              <a:tr h="434340">
                <a:tc>
                  <a:txBody>
                    <a:bodyPr/>
                    <a:lstStyle/>
                    <a:p>
                      <a:pPr algn="l"/>
                      <a:r>
                        <a:rPr sz="1300" b="1">
                          <a:solidFill>
                            <a:srgbClr val="5C6874"/>
                          </a:solidFill>
                          <a:latin typeface="Consolas"/>
                        </a:rPr>
                        <a:t>Model</a:t>
                      </a:r>
                    </a:p>
                  </a:txBody>
                  <a:tcPr/>
                </a:tc>
                <a:tc>
                  <a:txBody>
                    <a:bodyPr/>
                    <a:lstStyle/>
                    <a:p>
                      <a:pPr algn="r"/>
                      <a:r>
                        <a:rPr sz="1300" b="1">
                          <a:solidFill>
                            <a:srgbClr val="5C6874"/>
                          </a:solidFill>
                          <a:latin typeface="Consolas"/>
                        </a:rPr>
                        <a:t>Grid</a:t>
                      </a:r>
                    </a:p>
                  </a:txBody>
                  <a:tcPr/>
                </a:tc>
                <a:tc>
                  <a:txBody>
                    <a:bodyPr/>
                    <a:lstStyle/>
                    <a:p>
                      <a:pPr algn="r"/>
                      <a:r>
                        <a:rPr sz="1300" b="1">
                          <a:solidFill>
                            <a:srgbClr val="5C6874"/>
                          </a:solidFill>
                          <a:latin typeface="Consolas"/>
                        </a:rPr>
                        <a:t>Cubes</a:t>
                      </a:r>
                    </a:p>
                  </a:txBody>
                  <a:tcPr/>
                </a:tc>
                <a:tc>
                  <a:txBody>
                    <a:bodyPr/>
                    <a:lstStyle/>
                    <a:p>
                      <a:pPr algn="r"/>
                      <a:r>
                        <a:rPr sz="1300" b="1">
                          <a:solidFill>
                            <a:srgbClr val="5C6874"/>
                          </a:solidFill>
                          <a:latin typeface="Consolas"/>
                        </a:rPr>
                        <a:t>Inside the model</a:t>
                      </a:r>
                    </a:p>
                  </a:txBody>
                  <a:tcPr/>
                </a:tc>
                <a:tc>
                  <a:txBody>
                    <a:bodyPr/>
                    <a:lstStyle/>
                    <a:p>
                      <a:pPr algn="r"/>
                      <a:r>
                        <a:rPr sz="1300" b="1">
                          <a:solidFill>
                            <a:srgbClr val="5C6874"/>
                          </a:solidFill>
                          <a:latin typeface="Consolas"/>
                        </a:rPr>
                        <a:t>Cube side</a:t>
                      </a:r>
                    </a:p>
                  </a:txBody>
                  <a:tcPr/>
                </a:tc>
              </a:tr>
              <a:tr h="434340">
                <a:tc>
                  <a:txBody>
                    <a:bodyPr/>
                    <a:lstStyle/>
                    <a:p>
                      <a:pPr algn="l"/>
                      <a:r>
                        <a:rPr sz="1300" b="0">
                          <a:solidFill>
                            <a:srgbClr val="141A20"/>
                          </a:solidFill>
                          <a:latin typeface="Consolas"/>
                        </a:rPr>
                        <a:t>armadillo</a:t>
                      </a:r>
                    </a:p>
                  </a:txBody>
                  <a:tcPr/>
                </a:tc>
                <a:tc>
                  <a:txBody>
                    <a:bodyPr/>
                    <a:lstStyle/>
                    <a:p>
                      <a:pPr algn="r"/>
                      <a:r>
                        <a:rPr sz="1300" b="0">
                          <a:solidFill>
                            <a:srgbClr val="141A20"/>
                          </a:solidFill>
                          <a:latin typeface="Consolas"/>
                        </a:rPr>
                        <a:t>81 × 96 × 73</a:t>
                      </a:r>
                    </a:p>
                  </a:txBody>
                  <a:tcPr/>
                </a:tc>
                <a:tc>
                  <a:txBody>
                    <a:bodyPr/>
                    <a:lstStyle/>
                    <a:p>
                      <a:pPr algn="r"/>
                      <a:r>
                        <a:rPr sz="1300" b="0">
                          <a:solidFill>
                            <a:srgbClr val="141A20"/>
                          </a:solidFill>
                          <a:latin typeface="Consolas"/>
                        </a:rPr>
                        <a:t>567,648</a:t>
                      </a:r>
                    </a:p>
                  </a:txBody>
                  <a:tcPr/>
                </a:tc>
                <a:tc>
                  <a:txBody>
                    <a:bodyPr/>
                    <a:lstStyle/>
                    <a:p>
                      <a:pPr algn="r"/>
                      <a:r>
                        <a:rPr sz="1300" b="0">
                          <a:solidFill>
                            <a:srgbClr val="141A20"/>
                          </a:solidFill>
                          <a:latin typeface="Consolas"/>
                        </a:rPr>
                        <a:t>60,837  (10.7%)</a:t>
                      </a:r>
                    </a:p>
                  </a:txBody>
                  <a:tcPr/>
                </a:tc>
                <a:tc>
                  <a:txBody>
                    <a:bodyPr/>
                    <a:lstStyle/>
                    <a:p>
                      <a:pPr algn="r"/>
                      <a:r>
                        <a:rPr sz="1300" b="0">
                          <a:solidFill>
                            <a:srgbClr val="141A20"/>
                          </a:solidFill>
                          <a:latin typeface="Consolas"/>
                        </a:rPr>
                        <a:t>1.57</a:t>
                      </a:r>
                    </a:p>
                  </a:txBody>
                  <a:tcPr/>
                </a:tc>
              </a:tr>
              <a:tr h="434340">
                <a:tc>
                  <a:txBody>
                    <a:bodyPr/>
                    <a:lstStyle/>
                    <a:p>
                      <a:pPr algn="l"/>
                      <a:r>
                        <a:rPr sz="1300" b="0">
                          <a:solidFill>
                            <a:srgbClr val="141A20"/>
                          </a:solidFill>
                          <a:latin typeface="Consolas"/>
                        </a:rPr>
                        <a:t>sphere</a:t>
                      </a:r>
                    </a:p>
                  </a:txBody>
                  <a:tcPr/>
                </a:tc>
                <a:tc>
                  <a:txBody>
                    <a:bodyPr/>
                    <a:lstStyle/>
                    <a:p>
                      <a:pPr algn="r"/>
                      <a:r>
                        <a:rPr sz="1300" b="0">
                          <a:solidFill>
                            <a:srgbClr val="141A20"/>
                          </a:solidFill>
                          <a:latin typeface="Consolas"/>
                        </a:rPr>
                        <a:t>96 × 96 × 96</a:t>
                      </a:r>
                    </a:p>
                  </a:txBody>
                  <a:tcPr/>
                </a:tc>
                <a:tc>
                  <a:txBody>
                    <a:bodyPr/>
                    <a:lstStyle/>
                    <a:p>
                      <a:pPr algn="r"/>
                      <a:r>
                        <a:rPr sz="1300" b="0">
                          <a:solidFill>
                            <a:srgbClr val="141A20"/>
                          </a:solidFill>
                          <a:latin typeface="Consolas"/>
                        </a:rPr>
                        <a:t>884,736</a:t>
                      </a:r>
                    </a:p>
                  </a:txBody>
                  <a:tcPr/>
                </a:tc>
                <a:tc>
                  <a:txBody>
                    <a:bodyPr/>
                    <a:lstStyle/>
                    <a:p>
                      <a:pPr algn="r"/>
                      <a:r>
                        <a:rPr sz="1300" b="0">
                          <a:solidFill>
                            <a:srgbClr val="141A20"/>
                          </a:solidFill>
                          <a:latin typeface="Consolas"/>
                        </a:rPr>
                        <a:t>453,528  (51.3%)</a:t>
                      </a:r>
                    </a:p>
                  </a:txBody>
                  <a:tcPr/>
                </a:tc>
                <a:tc>
                  <a:txBody>
                    <a:bodyPr/>
                    <a:lstStyle/>
                    <a:p>
                      <a:pPr algn="r"/>
                      <a:r>
                        <a:rPr sz="1300" b="0">
                          <a:solidFill>
                            <a:srgbClr val="141A20"/>
                          </a:solidFill>
                          <a:latin typeface="Consolas"/>
                        </a:rPr>
                        <a:t>0.42</a:t>
                      </a:r>
                    </a:p>
                  </a:txBody>
                  <a:tcPr/>
                </a:tc>
              </a:tr>
              <a:tr h="434340">
                <a:tc>
                  <a:txBody>
                    <a:bodyPr/>
                    <a:lstStyle/>
                    <a:p>
                      <a:pPr algn="l"/>
                      <a:r>
                        <a:rPr sz="1300" b="0">
                          <a:solidFill>
                            <a:srgbClr val="141A20"/>
                          </a:solidFill>
                          <a:latin typeface="Consolas"/>
                        </a:rPr>
                        <a:t>cow</a:t>
                      </a:r>
                    </a:p>
                  </a:txBody>
                  <a:tcPr/>
                </a:tc>
                <a:tc>
                  <a:txBody>
                    <a:bodyPr/>
                    <a:lstStyle/>
                    <a:p>
                      <a:pPr algn="r"/>
                      <a:r>
                        <a:rPr sz="1300" b="0">
                          <a:solidFill>
                            <a:srgbClr val="141A20"/>
                          </a:solidFill>
                          <a:latin typeface="Consolas"/>
                        </a:rPr>
                        <a:t>53 × 94 × 96</a:t>
                      </a:r>
                    </a:p>
                  </a:txBody>
                  <a:tcPr/>
                </a:tc>
                <a:tc>
                  <a:txBody>
                    <a:bodyPr/>
                    <a:lstStyle/>
                    <a:p>
                      <a:pPr algn="r"/>
                      <a:r>
                        <a:rPr sz="1300" b="0">
                          <a:solidFill>
                            <a:srgbClr val="141A20"/>
                          </a:solidFill>
                          <a:latin typeface="Consolas"/>
                        </a:rPr>
                        <a:t>478,272</a:t>
                      </a:r>
                    </a:p>
                  </a:txBody>
                  <a:tcPr/>
                </a:tc>
                <a:tc>
                  <a:txBody>
                    <a:bodyPr/>
                    <a:lstStyle/>
                    <a:p>
                      <a:pPr algn="r"/>
                      <a:r>
                        <a:rPr sz="1300" b="0">
                          <a:solidFill>
                            <a:srgbClr val="141A20"/>
                          </a:solidFill>
                          <a:latin typeface="Consolas"/>
                        </a:rPr>
                        <a:t>122,983  (25.7%)</a:t>
                      </a:r>
                    </a:p>
                  </a:txBody>
                  <a:tcPr/>
                </a:tc>
                <a:tc>
                  <a:txBody>
                    <a:bodyPr/>
                    <a:lstStyle/>
                    <a:p>
                      <a:pPr algn="r"/>
                      <a:r>
                        <a:rPr sz="1300" b="0">
                          <a:solidFill>
                            <a:srgbClr val="141A20"/>
                          </a:solidFill>
                          <a:latin typeface="Consolas"/>
                        </a:rPr>
                        <a:t>0.018</a:t>
                      </a:r>
                    </a:p>
                  </a:txBody>
                  <a:tcPr/>
                </a:tc>
              </a:tr>
            </a:tbl>
          </a:graphicData>
        </a:graphic>
      </p:graphicFrame>
      <p:sp>
        <p:nvSpPr>
          <p:cNvPr id="7" name="TextBox 6"/>
          <p:cNvSpPr txBox="1"/>
          <p:nvPr/>
        </p:nvSpPr>
        <p:spPr>
          <a:xfrm>
            <a:off x="658368" y="4892040"/>
            <a:ext cx="10881360" cy="1097280"/>
          </a:xfrm>
          <a:prstGeom prst="rect">
            <a:avLst/>
          </a:prstGeom>
          <a:noFill/>
        </p:spPr>
        <p:txBody>
          <a:bodyPr wrap="square">
            <a:spAutoFit/>
          </a:bodyPr>
          <a:lstStyle/>
          <a:p>
            <a:pPr>
              <a:spcAft>
                <a:spcPts val="600"/>
              </a:spcAft>
            </a:pPr>
            <a:r>
              <a:rPr sz="1500" b="0" i="0">
                <a:solidFill>
                  <a:srgbClr val="141A20"/>
                </a:solidFill>
                <a:latin typeface="Georgia"/>
              </a:rPr>
              <a:t>The cubes never touch the pieces. They only decide WHERE the cuts go; each piece is then computed by an exact intersection with the original model, so the resolution affects cut placement by at most one cube and never the accuracy of a piece.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