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64" r:id="rId4"/>
    <p:sldId id="267" r:id="rId5"/>
    <p:sldId id="269" r:id="rId6"/>
    <p:sldId id="263" r:id="rId7"/>
    <p:sldId id="273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26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280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4629F-E4EB-4494-8CCE-10A33A9678A7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B4E5B-8635-466F-9F6C-9A4ECC0596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969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B4E5B-8635-466F-9F6C-9A4ECC0596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786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57B6B-6F86-434F-862D-118E466F1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B52A3C-AFA2-4847-B237-7E272B557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5C89DB-BF7E-4639-986D-A66C1719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F1F-993F-416E-AF6C-B7F6F3E5FC73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40831-794D-4D7E-B24F-252161A04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45927C-C5AF-426C-95EF-D866FE435EF3}"/>
              </a:ext>
            </a:extLst>
          </p:cNvPr>
          <p:cNvSpPr/>
          <p:nvPr userDrawn="1"/>
        </p:nvSpPr>
        <p:spPr>
          <a:xfrm>
            <a:off x="0" y="1"/>
            <a:ext cx="12192000" cy="530936"/>
          </a:xfrm>
          <a:prstGeom prst="rect">
            <a:avLst/>
          </a:prstGeom>
          <a:gradFill flip="none" rotWithShape="1">
            <a:gsLst>
              <a:gs pos="50000">
                <a:srgbClr val="0C7CAE"/>
              </a:gs>
              <a:gs pos="0">
                <a:schemeClr val="accent1"/>
              </a:gs>
              <a:gs pos="100000">
                <a:srgbClr val="00B05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>
            <a:extLst>
              <a:ext uri="{FF2B5EF4-FFF2-40B4-BE49-F238E27FC236}">
                <a16:creationId xmlns:a16="http://schemas.microsoft.com/office/drawing/2014/main" id="{1626A6D4-7C5D-49F2-BBB1-6DFD630F2514}"/>
              </a:ext>
            </a:extLst>
          </p:cNvPr>
          <p:cNvSpPr/>
          <p:nvPr userDrawn="1"/>
        </p:nvSpPr>
        <p:spPr>
          <a:xfrm rot="16200000">
            <a:off x="10597514" y="5257800"/>
            <a:ext cx="1594486" cy="1594486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113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8CC59-22BE-419F-9D57-F1A713F7B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6" y="583164"/>
            <a:ext cx="11543071" cy="511277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8E95BD-5ECB-4CD9-A678-EE58EFB7F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7" y="1135951"/>
            <a:ext cx="11543071" cy="5168171"/>
          </a:xfrm>
        </p:spPr>
        <p:txBody>
          <a:bodyPr>
            <a:normAutofit/>
          </a:bodyPr>
          <a:lstStyle>
            <a:lvl1pPr latinLnBrk="0">
              <a:defRPr sz="2000"/>
            </a:lvl1pPr>
            <a:lvl2pPr marL="360000" indent="-180000" latinLnBrk="0">
              <a:defRPr sz="1800"/>
            </a:lvl2pPr>
            <a:lvl3pPr marL="540000" indent="-180000" latinLnBrk="0">
              <a:defRPr sz="1600"/>
            </a:lvl3pPr>
            <a:lvl4pPr marL="720000" indent="-180000" latinLnBrk="0">
              <a:defRPr sz="1600"/>
            </a:lvl4pPr>
            <a:lvl5pPr marL="900000" indent="-180000" latinLnBrk="0">
              <a:defRPr sz="16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EC67CD-0B3F-4863-8CF7-DBE80A9D5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FAB9-1AEF-4604-9D43-C26BA5CC397F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7B17FA-D451-453A-9BA6-0F9BBAC43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78C366-A462-48EE-8580-04499B3AE1FD}"/>
              </a:ext>
            </a:extLst>
          </p:cNvPr>
          <p:cNvSpPr/>
          <p:nvPr userDrawn="1"/>
        </p:nvSpPr>
        <p:spPr>
          <a:xfrm>
            <a:off x="0" y="1"/>
            <a:ext cx="12192000" cy="530936"/>
          </a:xfrm>
          <a:prstGeom prst="rect">
            <a:avLst/>
          </a:prstGeom>
          <a:gradFill flip="none" rotWithShape="1">
            <a:gsLst>
              <a:gs pos="50000">
                <a:srgbClr val="0C7CAE"/>
              </a:gs>
              <a:gs pos="0">
                <a:schemeClr val="accent1"/>
              </a:gs>
              <a:gs pos="100000">
                <a:srgbClr val="00B05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361DF54-A884-45FA-B571-9D4FB8F984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9660"/>
            <a:ext cx="5672137" cy="511277"/>
          </a:xfrm>
        </p:spPr>
        <p:txBody>
          <a:bodyPr anchor="ctr">
            <a:normAutofit/>
          </a:bodyPr>
          <a:lstStyle>
            <a:lvl1pPr marL="0" indent="0">
              <a:buNone/>
              <a:defRPr sz="2000" b="0" strike="noStrike">
                <a:solidFill>
                  <a:schemeClr val="bg1"/>
                </a:solidFill>
                <a:effectLst>
                  <a:outerShdw blurRad="50800" dist="63500" dir="36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&lt;</a:t>
            </a:r>
            <a:r>
              <a:rPr lang="ko-KR" altLang="en-US" dirty="0"/>
              <a:t>주제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5839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727BE-3222-4CFF-AD99-8310BBA13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DE07C0-355E-40FE-AF44-715BF459E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D5DDE7-D2B5-471A-970C-7B90F98E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C96B8-70E0-4467-AFF1-7048170CA879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22E636-39C7-461B-8A2E-779C5B83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62D324-1A28-4223-AEBE-366616FD9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18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DC3F9-C188-4636-A0DE-A0E7FB15A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A4A204-1FEA-4C72-99BB-140FDDE09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A2AB17-B826-42F6-ACBC-16E269778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338763-3E2C-4076-98E9-0AFD6430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60FA9-2D34-4010-A15F-E4B337B1011B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B2077D-F1B3-4837-B147-59894CCD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AD47E0-854D-433A-9992-D56D34F48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201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23D3B-B13E-462E-A89A-29628509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33E4E0-463F-4346-9FDF-672E3BBB4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85CFD6-D7B8-4303-819C-9B745AD93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913713-737C-4038-B131-A7F92B24E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AC3B8F-595E-4420-A2A4-7B5F4BDB0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974DC3D-A873-4560-8081-DCFC58A3B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C477-C2F5-4D99-A63B-A201A49B7EC3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A85DC4-0100-40EB-A418-1C81C33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552DAD-499E-4D5A-A1B2-6469CDE0B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775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AEBAD-4D83-4F9B-AE11-EC8F8F82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9D4600-8179-43BB-9B34-CD86EBEC5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1B71-3F1E-407C-A5B2-FA165FD1F84B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8BDF06-B3D8-4891-A689-927CE7C5A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F7F4AB-63B6-4FAE-8228-251F3FA0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98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2A56CD-967F-45B9-A86B-1B7774367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1E7D-64C0-4102-B8CE-EC7E7C6DCDBE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7836AD-6C99-4837-889D-897AAA528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986EAC-A35A-4505-898B-D1B57FE6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93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ADA27-19A1-4DA8-BBBE-3F3DC42F3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219DD9-3A9E-4D4A-A541-2E02874D0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3D4A59-00CF-4530-8089-FFA079F23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3E5B68-0EA4-4785-A718-B39A80492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7449-C556-4FA1-861E-F85AB157E0C2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9694B5-8360-4F99-9646-D2173226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BBA12F-BDAF-4D36-9A32-2EAFD77D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24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854DCA-388A-4110-8BA6-895FC6136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B82BE0D-2291-4245-85C5-7E8BC073BB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5612F8-25A0-449E-8405-165B61E0F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A59B52-01C9-46F8-9114-D4CFB05A6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A3B8-F188-4E8C-A5F6-C874746D2C83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4963E5-6C22-40BE-A1F5-E540A0EC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41E29E-BFBA-4850-9C6D-E95731ABD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24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F7A66-4145-4C10-A813-494532B3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CB460A-DF11-445F-8CAA-8324734A5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532694-3C55-42FB-BA50-D80407FF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D9F45-7E03-4C3B-B651-B46837CADF89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6F250B-F112-4398-A585-EE1BB9864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F8E996-A1CD-484F-8E84-78FB9484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825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A2B927-40D5-4C2B-984E-01031AC33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D07976-D1BA-41CD-9E5F-1BB148A1A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8DBB88-EE0C-45F0-98BC-2D315C8D9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DB628-3056-4B4F-B244-C966161F632D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8F206-C450-4116-B2A0-CC3A6DFD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950654-44DE-4672-AC56-5AAF13787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604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2B1EA5D-6F33-4E99-B9B5-BD135DEC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EB9887-A8B2-4C26-8BEC-18BD3D574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ECF7AC-C8A0-4565-99F3-3B809ADBD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BEF52-E9F8-4ABE-95BA-D728F4C95789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68E233-5DF5-42E4-8176-5B90CC422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30C084-82A5-48F5-851B-F1ADF91B8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53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CCC452-D937-48BC-BDF0-883BBE966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4054"/>
            <a:ext cx="9144000" cy="2387600"/>
          </a:xfrm>
        </p:spPr>
        <p:txBody>
          <a:bodyPr/>
          <a:lstStyle/>
          <a:p>
            <a:r>
              <a:rPr lang="en-US" altLang="ko-KR" dirty="0"/>
              <a:t>Interlocking 3D puzzles using V-reps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52B273-BCB1-49B1-934A-AB2CB49CB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4423" y="3900125"/>
            <a:ext cx="9144000" cy="1655762"/>
          </a:xfrm>
        </p:spPr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그래픽스 및 기하처리 연구실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 </a:t>
            </a:r>
            <a:endParaRPr lang="en-US" altLang="ko-KR" dirty="0">
              <a:latin typeface="noto"/>
            </a:endParaRPr>
          </a:p>
          <a:p>
            <a:r>
              <a:rPr lang="ko-KR" altLang="en-US" dirty="0">
                <a:latin typeface="noto"/>
              </a:rPr>
              <a:t>정보컴퓨터공학부 </a:t>
            </a:r>
            <a:r>
              <a:rPr lang="ko-KR" altLang="en-US" dirty="0" err="1">
                <a:latin typeface="noto"/>
              </a:rPr>
              <a:t>예기즈바에브</a:t>
            </a:r>
            <a:r>
              <a:rPr lang="ko-KR" altLang="en-US" dirty="0">
                <a:latin typeface="noto"/>
              </a:rPr>
              <a:t> 졸란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7636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409B34-7202-083F-2B7E-D6EC0A5B5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7DC650-B73E-0E78-42C6-607571066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Bounding cage</a:t>
            </a:r>
          </a:p>
          <a:p>
            <a:r>
              <a:rPr lang="en-US" altLang="ko-KR" dirty="0"/>
              <a:t>The Material-Aware division</a:t>
            </a:r>
          </a:p>
          <a:p>
            <a:r>
              <a:rPr lang="en-US" altLang="ko-KR" dirty="0"/>
              <a:t>Recovering the model’s shape</a:t>
            </a:r>
          </a:p>
          <a:p>
            <a:r>
              <a:rPr lang="en-US" altLang="ko-KR" dirty="0"/>
              <a:t>Simulated Annealing</a:t>
            </a:r>
          </a:p>
          <a:p>
            <a:r>
              <a:rPr lang="en-US" dirty="0"/>
              <a:t>Concept of Simulated Annealing in research</a:t>
            </a:r>
          </a:p>
          <a:p>
            <a:r>
              <a:rPr lang="en-US" altLang="ko-KR" dirty="0"/>
              <a:t>Novelties of the work</a:t>
            </a:r>
          </a:p>
          <a:p>
            <a:r>
              <a:rPr lang="en-US" altLang="ko-KR" dirty="0"/>
              <a:t>Research plan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6A21A3-64CB-E4BF-A03A-508D8B2DCD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8C6061-FDDF-9729-AD0B-7441F7993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5215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723D-2A3B-925C-2484-C734DAAF4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Bounding cage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B826F-DDDF-B51E-49E8-18DCDE274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bounding cage acts as a continuous volumetric domain that can be cut.</a:t>
            </a:r>
          </a:p>
          <a:p>
            <a:r>
              <a:rPr lang="en-US" dirty="0"/>
              <a:t> The bounding cage is generated as a 3D box with 8 control points that perfectly map the internal math to reality.</a:t>
            </a:r>
          </a:p>
          <a:p>
            <a:r>
              <a:rPr lang="en-US" dirty="0"/>
              <a:t>The empty cell problem: When the BSP algorithm splits the cage based strictly on box volume, it ignores the model's actual geometry.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77B0A-90B2-EBEF-E078-DE9B335BA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F56AC9-C7CA-053D-91CC-38E39657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7" name="Star: 4 Points 6">
            <a:extLst>
              <a:ext uri="{FF2B5EF4-FFF2-40B4-BE49-F238E27FC236}">
                <a16:creationId xmlns:a16="http://schemas.microsoft.com/office/drawing/2014/main" id="{82ED2B27-BD76-52C6-0CE6-A9924A796F9A}"/>
              </a:ext>
            </a:extLst>
          </p:cNvPr>
          <p:cNvSpPr/>
          <p:nvPr/>
        </p:nvSpPr>
        <p:spPr>
          <a:xfrm>
            <a:off x="334296" y="3878395"/>
            <a:ext cx="1739900" cy="1520559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AB7C28-B66A-AB9A-27EA-B4B48F247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804" y="3244849"/>
            <a:ext cx="8802000" cy="27876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938095-3630-3EE8-3E07-98C54B0D1B6A}"/>
              </a:ext>
            </a:extLst>
          </p:cNvPr>
          <p:cNvSpPr txBox="1"/>
          <p:nvPr/>
        </p:nvSpPr>
        <p:spPr>
          <a:xfrm>
            <a:off x="121571" y="5537899"/>
            <a:ext cx="2165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The input mesh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DCDFCC-8ABC-625D-89D3-BE5379C2090B}"/>
              </a:ext>
            </a:extLst>
          </p:cNvPr>
          <p:cNvSpPr txBox="1"/>
          <p:nvPr/>
        </p:nvSpPr>
        <p:spPr>
          <a:xfrm>
            <a:off x="3229804" y="6241658"/>
            <a:ext cx="880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Current pipeline of dividing to pieces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BE2ADC4-5AB1-2E94-86E9-0FB986C3423F}"/>
              </a:ext>
            </a:extLst>
          </p:cNvPr>
          <p:cNvSpPr/>
          <p:nvPr/>
        </p:nvSpPr>
        <p:spPr>
          <a:xfrm>
            <a:off x="2439879" y="4413249"/>
            <a:ext cx="636968" cy="45085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90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3D19A6B-2D4F-5909-7D84-72C3B1D9B333}"/>
              </a:ext>
            </a:extLst>
          </p:cNvPr>
          <p:cNvSpPr/>
          <p:nvPr/>
        </p:nvSpPr>
        <p:spPr>
          <a:xfrm>
            <a:off x="8157092" y="3770389"/>
            <a:ext cx="1047331" cy="23440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AD7CFC-E7EA-16EA-FB47-EF440EA1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Material-Aware Solution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E5EB2-32B6-BBE8-CE78-398DDF1A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is </a:t>
            </a:r>
            <a:r>
              <a:rPr lang="en-US" dirty="0" err="1"/>
              <a:t>voxelised</a:t>
            </a:r>
            <a:r>
              <a:rPr lang="en-US" dirty="0"/>
              <a:t> with a 3D prefix sum, enabling instant volume queries to evaluate candidate cut planes.</a:t>
            </a:r>
          </a:p>
          <a:p>
            <a:r>
              <a:rPr lang="en-US" dirty="0"/>
              <a:t>The BSP algorithm divides model that it will have more than 15% and less than 85% of the divided part.</a:t>
            </a:r>
          </a:p>
          <a:p>
            <a:r>
              <a:rPr lang="en-US" dirty="0"/>
              <a:t>To prevent extreme size disparities, the algorithm always selects the cell containing the highest material volume for the next split.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F99A4-0119-8B91-85CB-8D42DD5A60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1F8A85-0818-F911-91C1-649C6BA5A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B2035C-4653-3DD2-7879-C4C07A63D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78" y="3770388"/>
            <a:ext cx="3066484" cy="23158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AB6824-CC51-6D24-551B-D0B6F5140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953" y="3770389"/>
            <a:ext cx="3103820" cy="2344088"/>
          </a:xfrm>
          <a:prstGeom prst="rect">
            <a:avLst/>
          </a:prstGeom>
        </p:spPr>
      </p:pic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B9D46158-2E29-77D9-DECF-32740547F8BE}"/>
              </a:ext>
            </a:extLst>
          </p:cNvPr>
          <p:cNvSpPr/>
          <p:nvPr/>
        </p:nvSpPr>
        <p:spPr>
          <a:xfrm>
            <a:off x="4522953" y="5319991"/>
            <a:ext cx="1029530" cy="794486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Empty cells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B5BAEF-3BC8-1F8C-CDF8-8DA2C6A37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092" y="3770389"/>
            <a:ext cx="3103820" cy="234408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A5F9377-8D4F-C1D1-14E3-036FEC135949}"/>
              </a:ext>
            </a:extLst>
          </p:cNvPr>
          <p:cNvSpPr txBox="1"/>
          <p:nvPr/>
        </p:nvSpPr>
        <p:spPr>
          <a:xfrm>
            <a:off x="883978" y="6174131"/>
            <a:ext cx="3066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The representation of a mesh in voxels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E8D3DC-23B9-D362-3675-05F958DF9CC3}"/>
              </a:ext>
            </a:extLst>
          </p:cNvPr>
          <p:cNvSpPr txBox="1"/>
          <p:nvPr/>
        </p:nvSpPr>
        <p:spPr>
          <a:xfrm>
            <a:off x="4522953" y="6203417"/>
            <a:ext cx="3085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Example of checking a cut candidate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5C11EB-D3E1-1CF3-9444-4F8C51036A16}"/>
              </a:ext>
            </a:extLst>
          </p:cNvPr>
          <p:cNvSpPr txBox="1"/>
          <p:nvPr/>
        </p:nvSpPr>
        <p:spPr>
          <a:xfrm>
            <a:off x="8157092" y="6174130"/>
            <a:ext cx="3103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Redeciding cut position</a:t>
            </a:r>
          </a:p>
        </p:txBody>
      </p:sp>
    </p:spTree>
    <p:extLst>
      <p:ext uri="{BB962C8B-B14F-4D97-AF65-F5344CB8AC3E}">
        <p14:creationId xmlns:p14="http://schemas.microsoft.com/office/powerpoint/2010/main" val="2440303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38EB-2ED5-A4D3-F663-107FAB33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Recovering the Model’s shape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85708-1B07-BA97-BE64-5CE54A672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In the BSP division process, the puzzle pieces remain as rigid, box-like sub-</a:t>
            </a:r>
            <a:r>
              <a:rPr lang="en-US" dirty="0" err="1"/>
              <a:t>trivariates</a:t>
            </a:r>
            <a:r>
              <a:rPr lang="en-US" dirty="0"/>
              <a:t>.</a:t>
            </a:r>
          </a:p>
          <a:p>
            <a:r>
              <a:rPr lang="en-US" dirty="0"/>
              <a:t>After the division process, high-resolution geometry is recovered by tessellating each cell and performing Boolean operations and intersections with the initial mesh input.</a:t>
            </a:r>
          </a:p>
          <a:p>
            <a:r>
              <a:rPr lang="en-US" dirty="0"/>
              <a:t>By intersection, the exterior boundary of the puzzle pieces inherits the exact surface of the initial model, and internal faces will be perfectly flat.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36F4B-3B2F-A80B-5FED-124750D5F3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0836C1-0217-9E1A-9728-A0504D811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2EC7C5-5858-861F-671C-8F954B611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67" y="2990400"/>
            <a:ext cx="2862733" cy="32385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974149-B8FB-27C6-3E2E-FDAAE0603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472" y="3011927"/>
            <a:ext cx="2842981" cy="32170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10161C-7090-8BA6-F97F-FF662669DF17}"/>
              </a:ext>
            </a:extLst>
          </p:cNvPr>
          <p:cNvSpPr txBox="1"/>
          <p:nvPr/>
        </p:nvSpPr>
        <p:spPr>
          <a:xfrm>
            <a:off x="6554792" y="6345632"/>
            <a:ext cx="3608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Final piece extracted by Boolean and intersection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7E0F12-85D3-E9D3-660B-76250FB78A9E}"/>
              </a:ext>
            </a:extLst>
          </p:cNvPr>
          <p:cNvSpPr txBox="1"/>
          <p:nvPr/>
        </p:nvSpPr>
        <p:spPr>
          <a:xfrm>
            <a:off x="1522827" y="6345631"/>
            <a:ext cx="3608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Sub-</a:t>
            </a:r>
            <a:r>
              <a:rPr lang="en-US" sz="1200" dirty="0" err="1"/>
              <a:t>trivariate</a:t>
            </a:r>
            <a:r>
              <a:rPr lang="en-US" sz="1200" dirty="0"/>
              <a:t> cell</a:t>
            </a:r>
          </a:p>
        </p:txBody>
      </p:sp>
    </p:spTree>
    <p:extLst>
      <p:ext uri="{BB962C8B-B14F-4D97-AF65-F5344CB8AC3E}">
        <p14:creationId xmlns:p14="http://schemas.microsoft.com/office/powerpoint/2010/main" val="1159847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BB6F5-B4F0-85A0-D5D6-CCD40F01A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 Annealing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55BDD9-330B-399E-F0E0-B173121038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EF88F-4115-7B66-4713-6B9E0F6C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5A0DF74-9BBB-8ACA-7FC3-A5A6BB613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Objective: </a:t>
            </a:r>
            <a:r>
              <a:rPr lang="en-US" dirty="0"/>
              <a:t>Find a mathematically optimal BSP cut that perfectly balances material volume while maintaining the piece connectivity.</a:t>
            </a:r>
          </a:p>
          <a:p>
            <a:r>
              <a:rPr lang="en-US" b="1" dirty="0"/>
              <a:t>Iterative Search:</a:t>
            </a:r>
            <a:r>
              <a:rPr lang="en-US" dirty="0"/>
              <a:t> The algorithm continuously generates new candidate cut planes by slightly shifting the (</a:t>
            </a:r>
            <a:r>
              <a:rPr lang="en-US" dirty="0" err="1"/>
              <a:t>u,v,w</a:t>
            </a:r>
            <a:r>
              <a:rPr lang="en-US" dirty="0"/>
              <a:t>) coordinates.</a:t>
            </a:r>
          </a:p>
          <a:p>
            <a:r>
              <a:rPr lang="en-US" b="1" dirty="0"/>
              <a:t>Probabilistic Acceptance:</a:t>
            </a:r>
          </a:p>
          <a:p>
            <a:pPr lvl="1"/>
            <a:r>
              <a:rPr lang="en-US" dirty="0"/>
              <a:t>It always accepts a shift that improves the volume balance.</a:t>
            </a:r>
          </a:p>
          <a:p>
            <a:pPr lvl="1"/>
            <a:r>
              <a:rPr lang="en-US" dirty="0"/>
              <a:t>To avoid getting trapped in a sub-optimal solution, it will occasionally accept a worse shift.</a:t>
            </a:r>
          </a:p>
          <a:p>
            <a:r>
              <a:rPr lang="en-US" dirty="0"/>
              <a:t>The probability of accepting a worse shift depends on a "temperature" variable. Early on (high temperature), it explores the space widely. As time passes (low temperature), it strictly fine-tunes the best position.</a:t>
            </a:r>
          </a:p>
        </p:txBody>
      </p:sp>
      <p:pic>
        <p:nvPicPr>
          <p:cNvPr id="3" name="Picture 2" descr="Simulated Annealing - an overview | ScienceDirect Topics">
            <a:extLst>
              <a:ext uri="{FF2B5EF4-FFF2-40B4-BE49-F238E27FC236}">
                <a16:creationId xmlns:a16="http://schemas.microsoft.com/office/drawing/2014/main" id="{50C68C86-D861-5E85-5B68-938D2E206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304" y="4469916"/>
            <a:ext cx="3629403" cy="23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45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1C71-6722-A301-A264-1FB1F43AC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Simulated Annealing in research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875CC-3A74-E339-76C5-3AC4210A70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1085" y="1146668"/>
                <a:ext cx="6159151" cy="5168171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/>
                  <a:t>Propose a shift</a:t>
                </a:r>
              </a:p>
              <a:p>
                <a:pPr lvl="1"/>
                <a:r>
                  <a:rPr lang="en-US" sz="1600" dirty="0"/>
                  <a:t>The algorithm randomly nudges the 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/>
                        </m:ctrlPr>
                      </m:dPr>
                      <m:e>
                        <m:r>
                          <a:rPr lang="en-US" sz="1600" i="1"/>
                          <m:t>𝑢</m:t>
                        </m:r>
                        <m:r>
                          <a:rPr lang="en-US" sz="1600"/>
                          <m:t>,,,</m:t>
                        </m:r>
                        <m:r>
                          <a:rPr lang="en-US" sz="1600" i="1"/>
                          <m:t>𝑣</m:t>
                        </m:r>
                        <m:r>
                          <a:rPr lang="en-US" sz="1600"/>
                          <m:t>,,,</m:t>
                        </m:r>
                        <m:r>
                          <a:rPr lang="en-US" sz="1600" i="1"/>
                          <m:t>𝑤</m:t>
                        </m:r>
                      </m:e>
                    </m:d>
                  </m:oMath>
                </a14:m>
                <a:r>
                  <a:rPr lang="en-US" sz="1600" dirty="0"/>
                  <a:t> candidate cut plane.</a:t>
                </a:r>
              </a:p>
              <a:p>
                <a:r>
                  <a:rPr lang="en-US" sz="1800" dirty="0"/>
                  <a:t>Check the volume</a:t>
                </a:r>
              </a:p>
              <a:p>
                <a:pPr lvl="1"/>
                <a:r>
                  <a:rPr lang="en-US" sz="1600" dirty="0"/>
                  <a:t>It instantly calculates the new piece sizes using the </a:t>
                </a:r>
                <a14:m>
                  <m:oMath xmlns:m="http://schemas.openxmlformats.org/officeDocument/2006/math">
                    <m:r>
                      <a:rPr lang="en-US" sz="1600" i="1"/>
                      <m:t>𝑂</m:t>
                    </m:r>
                    <m:d>
                      <m:dPr>
                        <m:ctrlPr>
                          <a:rPr lang="en-US" sz="1600"/>
                        </m:ctrlPr>
                      </m:dPr>
                      <m:e>
                        <m:r>
                          <a:rPr lang="en-US" sz="1600"/>
                          <m:t>1</m:t>
                        </m:r>
                      </m:e>
                    </m:d>
                  </m:oMath>
                </a14:m>
                <a:r>
                  <a:rPr lang="en-US" sz="1600" dirty="0"/>
                  <a:t> voxel prefix sum heuristic.</a:t>
                </a:r>
              </a:p>
              <a:p>
                <a:r>
                  <a:rPr lang="en-US" sz="1800" dirty="0"/>
                  <a:t>Decide</a:t>
                </a:r>
              </a:p>
              <a:p>
                <a:pPr lvl="1"/>
                <a:r>
                  <a:rPr lang="en-US" sz="1600" dirty="0"/>
                  <a:t>It always accepts a better cut. To avoid getting stuck in a local minimum, it occasionally accepts a worse cut based on the “temperature".</a:t>
                </a:r>
              </a:p>
              <a:p>
                <a:r>
                  <a:rPr lang="en-US" sz="1800" dirty="0"/>
                  <a:t>Cool down</a:t>
                </a:r>
              </a:p>
              <a:p>
                <a:pPr lvl="1"/>
                <a:r>
                  <a:rPr lang="en-US" sz="1600" dirty="0"/>
                  <a:t>The temperature gradually drops, forcing the algorithm to stop exploring and lock into the mathematically perfect cut.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875CC-3A74-E339-76C5-3AC4210A70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085" y="1146668"/>
                <a:ext cx="6159151" cy="5168171"/>
              </a:xfrm>
              <a:blipFill>
                <a:blip r:embed="rId2"/>
                <a:stretch>
                  <a:fillRect l="-593" t="-708" r="-1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57DBD-301B-9545-A10B-4385EB7DD7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851B0-D04B-8802-0E7F-39E16BCD4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6" name="Picture 5" descr="Using Feedback Strategies in Simulated Annealing with Crystallization  Heuristic and Applications">
            <a:extLst>
              <a:ext uri="{FF2B5EF4-FFF2-40B4-BE49-F238E27FC236}">
                <a16:creationId xmlns:a16="http://schemas.microsoft.com/office/drawing/2014/main" id="{329DB278-481A-7CA8-B9E6-F44610D7C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525" y="1269272"/>
            <a:ext cx="5720592" cy="484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79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080A2-649C-4E34-6AC4-A7B32E8A3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Novelties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22593-9BEA-4A56-6F25-FE719B670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Assembly planning as a design constraint</a:t>
            </a:r>
            <a:endParaRPr lang="kk-KZ" dirty="0"/>
          </a:p>
          <a:p>
            <a:pPr lvl="1"/>
            <a:r>
              <a:rPr lang="en-US" dirty="0"/>
              <a:t>Rather than treating kinematic assembly as a post-calculation verification step, the assembly planner is embedded directly inside the generation loop.</a:t>
            </a:r>
            <a:endParaRPr lang="kk-KZ" dirty="0"/>
          </a:p>
          <a:p>
            <a:r>
              <a:rPr lang="en-US" dirty="0"/>
              <a:t>Self-locking joints are defined in the </a:t>
            </a:r>
            <a:r>
              <a:rPr lang="en-US" dirty="0" err="1"/>
              <a:t>trivariate</a:t>
            </a:r>
            <a:r>
              <a:rPr lang="en-US" dirty="0"/>
              <a:t> parameter domain.</a:t>
            </a:r>
            <a:endParaRPr lang="kk-KZ" dirty="0"/>
          </a:p>
          <a:p>
            <a:pPr lvl="1"/>
            <a:r>
              <a:rPr lang="en-US" dirty="0"/>
              <a:t>Interlocking joints are defined directly in the continuous </a:t>
            </a:r>
            <a:r>
              <a:rPr lang="en-US" dirty="0" err="1"/>
              <a:t>trivariate</a:t>
            </a:r>
            <a:r>
              <a:rPr lang="en-US" dirty="0"/>
              <a:t> (</a:t>
            </a:r>
            <a:r>
              <a:rPr lang="en-US" dirty="0" err="1"/>
              <a:t>u,v,w</a:t>
            </a:r>
            <a:r>
              <a:rPr lang="en-US" dirty="0"/>
              <a:t>) parameter space rather than via discrete voxels. This allows the locking mechanisms to seamlessly inherit the bounding cage's mapping and remain geometrically valid across curved, freeform faces.</a:t>
            </a:r>
            <a:endParaRPr lang="kk-KZ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85DF7-D2BB-A12A-EDE4-0E71E7C10E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777D7F-3E44-A6ED-94F3-6F715D4C7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8552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1387B-674A-6C74-1489-804E638A3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5A9CA-0DAD-C501-2BF2-E27546344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2026, September</a:t>
            </a:r>
          </a:p>
          <a:p>
            <a:pPr lvl="1"/>
            <a:r>
              <a:rPr lang="en-US" dirty="0"/>
              <a:t>BSP division verification</a:t>
            </a:r>
          </a:p>
          <a:p>
            <a:r>
              <a:rPr lang="en-US" dirty="0"/>
              <a:t>2026, October</a:t>
            </a:r>
          </a:p>
          <a:p>
            <a:pPr lvl="1"/>
            <a:r>
              <a:rPr lang="en-US" dirty="0"/>
              <a:t>Joints of pieces</a:t>
            </a:r>
          </a:p>
          <a:p>
            <a:r>
              <a:rPr lang="en-US" dirty="0"/>
              <a:t>2026, October-November</a:t>
            </a:r>
          </a:p>
          <a:p>
            <a:pPr lvl="1"/>
            <a:r>
              <a:rPr lang="en-US" dirty="0"/>
              <a:t>Puzzle repair algorithms(via candidate concept: Simulated annealing)</a:t>
            </a:r>
          </a:p>
          <a:p>
            <a:r>
              <a:rPr lang="en-US" dirty="0"/>
              <a:t>2026, December-January</a:t>
            </a:r>
          </a:p>
          <a:p>
            <a:pPr lvl="1"/>
            <a:r>
              <a:rPr lang="en-US" dirty="0"/>
              <a:t>Verification of the algorithm via printing 3D puzzles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C69C6-0A70-3CD2-0965-33238B0A20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9A74B-1FB0-D8FC-6752-860640C14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0288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KoPubWorld돋움체">
      <a:majorFont>
        <a:latin typeface="KoPubWorld돋움체 Bold"/>
        <a:ea typeface="KoPubWorld돋움체 Bold"/>
        <a:cs typeface=""/>
      </a:majorFont>
      <a:minorFont>
        <a:latin typeface="KoPubWorld돋움체 Medium"/>
        <a:ea typeface="KoPubWorld돋움체 Medium"/>
        <a:cs typeface=""/>
      </a:minorFont>
    </a:fontScheme>
    <a:fmtScheme name="절묘한 입체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7765</TotalTime>
  <Words>619</Words>
  <Application>Microsoft Office PowerPoint</Application>
  <PresentationFormat>Widescreen</PresentationFormat>
  <Paragraphs>70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KoPubWorld돋움체 Bold</vt:lpstr>
      <vt:lpstr>KoPubWorld돋움체 Medium</vt:lpstr>
      <vt:lpstr>맑은 고딕</vt:lpstr>
      <vt:lpstr>noto</vt:lpstr>
      <vt:lpstr>Arial</vt:lpstr>
      <vt:lpstr>Office 테마</vt:lpstr>
      <vt:lpstr>Interlocking 3D puzzles using V-reps</vt:lpstr>
      <vt:lpstr>Contents</vt:lpstr>
      <vt:lpstr>Bounding cage</vt:lpstr>
      <vt:lpstr>The Material-Aware Solution</vt:lpstr>
      <vt:lpstr>Recovering the Model’s shape</vt:lpstr>
      <vt:lpstr>Simulated Annealing</vt:lpstr>
      <vt:lpstr>Concept of Simulated Annealing in research</vt:lpstr>
      <vt:lpstr>Novelties of work</vt:lpstr>
      <vt:lpstr>Research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남정보컴퓨터공학부</cp:lastModifiedBy>
  <cp:revision>22</cp:revision>
  <dcterms:created xsi:type="dcterms:W3CDTF">2025-06-16T00:16:57Z</dcterms:created>
  <dcterms:modified xsi:type="dcterms:W3CDTF">2026-09-10T09:21:47Z</dcterms:modified>
</cp:coreProperties>
</file>